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3"/>
  </p:notesMasterIdLst>
  <p:sldIdLst>
    <p:sldId id="265" r:id="rId2"/>
  </p:sldIdLst>
  <p:sldSz cx="30178375" cy="43895963"/>
  <p:notesSz cx="6858000" cy="9144000"/>
  <p:defaultTextStyle>
    <a:defPPr>
      <a:defRPr lang="en-US"/>
    </a:defPPr>
    <a:lvl1pPr marL="0" algn="l" defTabSz="3684118" rtl="0" eaLnBrk="1" latinLnBrk="0" hangingPunct="1">
      <a:defRPr sz="7252" kern="1200">
        <a:solidFill>
          <a:schemeClr val="tx1"/>
        </a:solidFill>
        <a:latin typeface="+mn-lt"/>
        <a:ea typeface="+mn-ea"/>
        <a:cs typeface="+mn-cs"/>
      </a:defRPr>
    </a:lvl1pPr>
    <a:lvl2pPr marL="1842059" algn="l" defTabSz="3684118" rtl="0" eaLnBrk="1" latinLnBrk="0" hangingPunct="1">
      <a:defRPr sz="7252" kern="1200">
        <a:solidFill>
          <a:schemeClr val="tx1"/>
        </a:solidFill>
        <a:latin typeface="+mn-lt"/>
        <a:ea typeface="+mn-ea"/>
        <a:cs typeface="+mn-cs"/>
      </a:defRPr>
    </a:lvl2pPr>
    <a:lvl3pPr marL="3684118" algn="l" defTabSz="3684118" rtl="0" eaLnBrk="1" latinLnBrk="0" hangingPunct="1">
      <a:defRPr sz="7252" kern="1200">
        <a:solidFill>
          <a:schemeClr val="tx1"/>
        </a:solidFill>
        <a:latin typeface="+mn-lt"/>
        <a:ea typeface="+mn-ea"/>
        <a:cs typeface="+mn-cs"/>
      </a:defRPr>
    </a:lvl3pPr>
    <a:lvl4pPr marL="5526176" algn="l" defTabSz="3684118" rtl="0" eaLnBrk="1" latinLnBrk="0" hangingPunct="1">
      <a:defRPr sz="7252" kern="1200">
        <a:solidFill>
          <a:schemeClr val="tx1"/>
        </a:solidFill>
        <a:latin typeface="+mn-lt"/>
        <a:ea typeface="+mn-ea"/>
        <a:cs typeface="+mn-cs"/>
      </a:defRPr>
    </a:lvl4pPr>
    <a:lvl5pPr marL="7368235" algn="l" defTabSz="3684118" rtl="0" eaLnBrk="1" latinLnBrk="0" hangingPunct="1">
      <a:defRPr sz="7252" kern="1200">
        <a:solidFill>
          <a:schemeClr val="tx1"/>
        </a:solidFill>
        <a:latin typeface="+mn-lt"/>
        <a:ea typeface="+mn-ea"/>
        <a:cs typeface="+mn-cs"/>
      </a:defRPr>
    </a:lvl5pPr>
    <a:lvl6pPr marL="9210294" algn="l" defTabSz="3684118" rtl="0" eaLnBrk="1" latinLnBrk="0" hangingPunct="1">
      <a:defRPr sz="7252" kern="1200">
        <a:solidFill>
          <a:schemeClr val="tx1"/>
        </a:solidFill>
        <a:latin typeface="+mn-lt"/>
        <a:ea typeface="+mn-ea"/>
        <a:cs typeface="+mn-cs"/>
      </a:defRPr>
    </a:lvl6pPr>
    <a:lvl7pPr marL="11052353" algn="l" defTabSz="3684118" rtl="0" eaLnBrk="1" latinLnBrk="0" hangingPunct="1">
      <a:defRPr sz="7252" kern="1200">
        <a:solidFill>
          <a:schemeClr val="tx1"/>
        </a:solidFill>
        <a:latin typeface="+mn-lt"/>
        <a:ea typeface="+mn-ea"/>
        <a:cs typeface="+mn-cs"/>
      </a:defRPr>
    </a:lvl7pPr>
    <a:lvl8pPr marL="12894412" algn="l" defTabSz="3684118" rtl="0" eaLnBrk="1" latinLnBrk="0" hangingPunct="1">
      <a:defRPr sz="7252" kern="1200">
        <a:solidFill>
          <a:schemeClr val="tx1"/>
        </a:solidFill>
        <a:latin typeface="+mn-lt"/>
        <a:ea typeface="+mn-ea"/>
        <a:cs typeface="+mn-cs"/>
      </a:defRPr>
    </a:lvl8pPr>
    <a:lvl9pPr marL="14736470" algn="l" defTabSz="3684118" rtl="0" eaLnBrk="1" latinLnBrk="0" hangingPunct="1">
      <a:defRPr sz="7252"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607" userDrawn="1">
          <p15:clr>
            <a:srgbClr val="A4A3A4"/>
          </p15:clr>
        </p15:guide>
        <p15:guide id="2" pos="10205" userDrawn="1">
          <p15:clr>
            <a:srgbClr val="A4A3A4"/>
          </p15:clr>
        </p15:guide>
        <p15:guide id="3" orient="horz" pos="13826">
          <p15:clr>
            <a:srgbClr val="A4A3A4"/>
          </p15:clr>
        </p15:guide>
        <p15:guide id="4" pos="9505">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F8F0"/>
    <a:srgbClr val="F2F6F8"/>
    <a:srgbClr val="212121"/>
    <a:srgbClr val="E0F2F1"/>
    <a:srgbClr val="00897B"/>
    <a:srgbClr val="004D40"/>
    <a:srgbClr val="0D47A1"/>
    <a:srgbClr val="AADBF4"/>
    <a:srgbClr val="1A237E"/>
    <a:srgbClr val="2506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09" autoAdjust="0"/>
    <p:restoredTop sz="99644" autoAdjust="0"/>
  </p:normalViewPr>
  <p:slideViewPr>
    <p:cSldViewPr snapToGrid="0">
      <p:cViewPr>
        <p:scale>
          <a:sx n="33" d="100"/>
          <a:sy n="33" d="100"/>
        </p:scale>
        <p:origin x="768" y="19"/>
      </p:cViewPr>
      <p:guideLst>
        <p:guide orient="horz" pos="13607"/>
        <p:guide pos="10205"/>
        <p:guide orient="horz" pos="13826"/>
        <p:guide pos="9505"/>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4C5BF5-3A87-4E84-9BCC-81AB32962A54}" type="datetimeFigureOut">
              <a:rPr lang="en-US" smtClean="0"/>
              <a:pPr/>
              <a:t>8/16/2026</a:t>
            </a:fld>
            <a:endParaRPr lang="en-US"/>
          </a:p>
        </p:txBody>
      </p:sp>
      <p:sp>
        <p:nvSpPr>
          <p:cNvPr id="4" name="Slide Image Placeholder 3"/>
          <p:cNvSpPr>
            <a:spLocks noGrp="1" noRot="1" noChangeAspect="1"/>
          </p:cNvSpPr>
          <p:nvPr>
            <p:ph type="sldImg" idx="2"/>
          </p:nvPr>
        </p:nvSpPr>
        <p:spPr>
          <a:xfrm>
            <a:off x="2368550" y="1143000"/>
            <a:ext cx="21209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B76BA5-D68A-4B05-9B93-83CC677C7631}" type="slidenum">
              <a:rPr lang="en-US" smtClean="0"/>
              <a:pPr/>
              <a:t>‹#›</a:t>
            </a:fld>
            <a:endParaRPr lang="en-US"/>
          </a:p>
        </p:txBody>
      </p:sp>
    </p:spTree>
    <p:extLst>
      <p:ext uri="{BB962C8B-B14F-4D97-AF65-F5344CB8AC3E}">
        <p14:creationId xmlns:p14="http://schemas.microsoft.com/office/powerpoint/2010/main" val="4086369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63379" y="7183903"/>
            <a:ext cx="25651619" cy="15282298"/>
          </a:xfrm>
        </p:spPr>
        <p:txBody>
          <a:bodyPr anchor="b"/>
          <a:lstStyle>
            <a:lvl1pPr algn="ctr">
              <a:defRPr sz="21259"/>
            </a:lvl1pPr>
          </a:lstStyle>
          <a:p>
            <a:r>
              <a:rPr lang="en-US"/>
              <a:t>Click to edit Master title style</a:t>
            </a:r>
            <a:endParaRPr lang="en-US" dirty="0"/>
          </a:p>
        </p:txBody>
      </p:sp>
      <p:sp>
        <p:nvSpPr>
          <p:cNvPr id="3" name="Subtitle 2"/>
          <p:cNvSpPr>
            <a:spLocks noGrp="1"/>
          </p:cNvSpPr>
          <p:nvPr>
            <p:ph type="subTitle" idx="1"/>
          </p:nvPr>
        </p:nvSpPr>
        <p:spPr>
          <a:xfrm>
            <a:off x="3772297" y="23055545"/>
            <a:ext cx="22633781" cy="10598027"/>
          </a:xfrm>
        </p:spPr>
        <p:txBody>
          <a:bodyPr/>
          <a:lstStyle>
            <a:lvl1pPr marL="0" indent="0" algn="ctr">
              <a:buNone/>
              <a:defRPr sz="8504"/>
            </a:lvl1pPr>
            <a:lvl2pPr marL="1619951" indent="0" algn="ctr">
              <a:buNone/>
              <a:defRPr sz="7086"/>
            </a:lvl2pPr>
            <a:lvl3pPr marL="3239902" indent="0" algn="ctr">
              <a:buNone/>
              <a:defRPr sz="6378"/>
            </a:lvl3pPr>
            <a:lvl4pPr marL="4859853" indent="0" algn="ctr">
              <a:buNone/>
              <a:defRPr sz="5669"/>
            </a:lvl4pPr>
            <a:lvl5pPr marL="6479804" indent="0" algn="ctr">
              <a:buNone/>
              <a:defRPr sz="5669"/>
            </a:lvl5pPr>
            <a:lvl6pPr marL="8099755" indent="0" algn="ctr">
              <a:buNone/>
              <a:defRPr sz="5669"/>
            </a:lvl6pPr>
            <a:lvl7pPr marL="9719706" indent="0" algn="ctr">
              <a:buNone/>
              <a:defRPr sz="5669"/>
            </a:lvl7pPr>
            <a:lvl8pPr marL="11339657" indent="0" algn="ctr">
              <a:buNone/>
              <a:defRPr sz="5669"/>
            </a:lvl8pPr>
            <a:lvl9pPr marL="12959608" indent="0" algn="ctr">
              <a:buNone/>
              <a:defRPr sz="566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CEDBC00-42B2-43E5-B352-F5053BCFA8F4}" type="datetime1">
              <a:rPr lang="en-IN" smtClean="0">
                <a:solidFill>
                  <a:prstClr val="black">
                    <a:tint val="75000"/>
                  </a:prstClr>
                </a:solidFill>
              </a:rPr>
              <a:pPr/>
              <a:t>16-08-2026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7369934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5148D8F-61FE-4BBA-A014-91F08D031FD6}" type="datetime1">
              <a:rPr lang="en-IN" smtClean="0">
                <a:solidFill>
                  <a:prstClr val="black">
                    <a:tint val="75000"/>
                  </a:prstClr>
                </a:solidFill>
              </a:rPr>
              <a:pPr/>
              <a:t>16-08-2026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6794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59047" y="10943521"/>
            <a:ext cx="26028849" cy="18259498"/>
          </a:xfrm>
        </p:spPr>
        <p:txBody>
          <a:bodyPr anchor="b"/>
          <a:lstStyle>
            <a:lvl1pPr>
              <a:defRPr sz="21259"/>
            </a:lvl1pPr>
          </a:lstStyle>
          <a:p>
            <a:r>
              <a:rPr lang="en-US"/>
              <a:t>Click to edit Master title style</a:t>
            </a:r>
            <a:endParaRPr lang="en-US" dirty="0"/>
          </a:p>
        </p:txBody>
      </p:sp>
      <p:sp>
        <p:nvSpPr>
          <p:cNvPr id="3" name="Text Placeholder 2"/>
          <p:cNvSpPr>
            <a:spLocks noGrp="1"/>
          </p:cNvSpPr>
          <p:nvPr>
            <p:ph type="body" idx="1"/>
          </p:nvPr>
        </p:nvSpPr>
        <p:spPr>
          <a:xfrm>
            <a:off x="2059047" y="29375761"/>
            <a:ext cx="26028849" cy="9602238"/>
          </a:xfrm>
        </p:spPr>
        <p:txBody>
          <a:bodyPr/>
          <a:lstStyle>
            <a:lvl1pPr marL="0" indent="0">
              <a:buNone/>
              <a:defRPr sz="8504">
                <a:solidFill>
                  <a:schemeClr val="tx1"/>
                </a:solidFill>
              </a:defRPr>
            </a:lvl1pPr>
            <a:lvl2pPr marL="1619951" indent="0">
              <a:buNone/>
              <a:defRPr sz="7086">
                <a:solidFill>
                  <a:schemeClr val="tx1">
                    <a:tint val="75000"/>
                  </a:schemeClr>
                </a:solidFill>
              </a:defRPr>
            </a:lvl2pPr>
            <a:lvl3pPr marL="3239902" indent="0">
              <a:buNone/>
              <a:defRPr sz="6378">
                <a:solidFill>
                  <a:schemeClr val="tx1">
                    <a:tint val="75000"/>
                  </a:schemeClr>
                </a:solidFill>
              </a:defRPr>
            </a:lvl3pPr>
            <a:lvl4pPr marL="4859853" indent="0">
              <a:buNone/>
              <a:defRPr sz="5669">
                <a:solidFill>
                  <a:schemeClr val="tx1">
                    <a:tint val="75000"/>
                  </a:schemeClr>
                </a:solidFill>
              </a:defRPr>
            </a:lvl4pPr>
            <a:lvl5pPr marL="6479804" indent="0">
              <a:buNone/>
              <a:defRPr sz="5669">
                <a:solidFill>
                  <a:schemeClr val="tx1">
                    <a:tint val="75000"/>
                  </a:schemeClr>
                </a:solidFill>
              </a:defRPr>
            </a:lvl5pPr>
            <a:lvl6pPr marL="8099755" indent="0">
              <a:buNone/>
              <a:defRPr sz="5669">
                <a:solidFill>
                  <a:schemeClr val="tx1">
                    <a:tint val="75000"/>
                  </a:schemeClr>
                </a:solidFill>
              </a:defRPr>
            </a:lvl6pPr>
            <a:lvl7pPr marL="9719706" indent="0">
              <a:buNone/>
              <a:defRPr sz="5669">
                <a:solidFill>
                  <a:schemeClr val="tx1">
                    <a:tint val="75000"/>
                  </a:schemeClr>
                </a:solidFill>
              </a:defRPr>
            </a:lvl7pPr>
            <a:lvl8pPr marL="11339657" indent="0">
              <a:buNone/>
              <a:defRPr sz="5669">
                <a:solidFill>
                  <a:schemeClr val="tx1">
                    <a:tint val="75000"/>
                  </a:schemeClr>
                </a:solidFill>
              </a:defRPr>
            </a:lvl8pPr>
            <a:lvl9pPr marL="12959608" indent="0">
              <a:buNone/>
              <a:defRPr sz="566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E08C66-7B62-4505-9EA0-8BF5A9D9F2C6}" type="datetime1">
              <a:rPr lang="en-IN" smtClean="0">
                <a:solidFill>
                  <a:prstClr val="black">
                    <a:tint val="75000"/>
                  </a:prstClr>
                </a:solidFill>
              </a:rPr>
              <a:pPr/>
              <a:t>16-08-2026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3372266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074764" y="11685268"/>
            <a:ext cx="12825809" cy="27851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5277803" y="11685268"/>
            <a:ext cx="12825809" cy="278515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310784-62EE-483D-AB6C-D514BA13A6FB}" type="datetime1">
              <a:rPr lang="en-IN" smtClean="0">
                <a:solidFill>
                  <a:prstClr val="black">
                    <a:tint val="75000"/>
                  </a:prstClr>
                </a:solidFill>
              </a:rPr>
              <a:pPr/>
              <a:t>16-08-2026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6004108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337064"/>
            <a:ext cx="26028849" cy="848452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78698" y="10760612"/>
            <a:ext cx="12766865" cy="5273609"/>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n-US"/>
              <a:t>Click to edit Master text styles</a:t>
            </a:r>
          </a:p>
        </p:txBody>
      </p:sp>
      <p:sp>
        <p:nvSpPr>
          <p:cNvPr id="4" name="Content Placeholder 3"/>
          <p:cNvSpPr>
            <a:spLocks noGrp="1"/>
          </p:cNvSpPr>
          <p:nvPr>
            <p:ph sz="half" idx="2"/>
          </p:nvPr>
        </p:nvSpPr>
        <p:spPr>
          <a:xfrm>
            <a:off x="2078698" y="16034220"/>
            <a:ext cx="12766865" cy="23583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5277805" y="10760612"/>
            <a:ext cx="12829740" cy="5273609"/>
          </a:xfrm>
        </p:spPr>
        <p:txBody>
          <a:bodyPr anchor="b"/>
          <a:lstStyle>
            <a:lvl1pPr marL="0" indent="0">
              <a:buNone/>
              <a:defRPr sz="8504" b="1"/>
            </a:lvl1pPr>
            <a:lvl2pPr marL="1619951" indent="0">
              <a:buNone/>
              <a:defRPr sz="7086" b="1"/>
            </a:lvl2pPr>
            <a:lvl3pPr marL="3239902" indent="0">
              <a:buNone/>
              <a:defRPr sz="6378" b="1"/>
            </a:lvl3pPr>
            <a:lvl4pPr marL="4859853" indent="0">
              <a:buNone/>
              <a:defRPr sz="5669" b="1"/>
            </a:lvl4pPr>
            <a:lvl5pPr marL="6479804" indent="0">
              <a:buNone/>
              <a:defRPr sz="5669" b="1"/>
            </a:lvl5pPr>
            <a:lvl6pPr marL="8099755" indent="0">
              <a:buNone/>
              <a:defRPr sz="5669" b="1"/>
            </a:lvl6pPr>
            <a:lvl7pPr marL="9719706" indent="0">
              <a:buNone/>
              <a:defRPr sz="5669" b="1"/>
            </a:lvl7pPr>
            <a:lvl8pPr marL="11339657" indent="0">
              <a:buNone/>
              <a:defRPr sz="5669" b="1"/>
            </a:lvl8pPr>
            <a:lvl9pPr marL="12959608" indent="0">
              <a:buNone/>
              <a:defRPr sz="5669" b="1"/>
            </a:lvl9pPr>
          </a:lstStyle>
          <a:p>
            <a:pPr lvl="0"/>
            <a:r>
              <a:rPr lang="en-US"/>
              <a:t>Click to edit Master text styles</a:t>
            </a:r>
          </a:p>
        </p:txBody>
      </p:sp>
      <p:sp>
        <p:nvSpPr>
          <p:cNvPr id="6" name="Content Placeholder 5"/>
          <p:cNvSpPr>
            <a:spLocks noGrp="1"/>
          </p:cNvSpPr>
          <p:nvPr>
            <p:ph sz="quarter" idx="4"/>
          </p:nvPr>
        </p:nvSpPr>
        <p:spPr>
          <a:xfrm>
            <a:off x="15277805" y="16034220"/>
            <a:ext cx="12829740" cy="235839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9014DB6-8238-4332-97A5-39C5772D85B3}" type="datetime1">
              <a:rPr lang="en-IN" smtClean="0">
                <a:solidFill>
                  <a:prstClr val="black">
                    <a:tint val="75000"/>
                  </a:prstClr>
                </a:solidFill>
              </a:rPr>
              <a:pPr/>
              <a:t>16-08-2026</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547105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3FA43FC-E8BE-47DF-A8EE-D635E81C0687}" type="datetime1">
              <a:rPr lang="en-IN" smtClean="0">
                <a:solidFill>
                  <a:prstClr val="black">
                    <a:tint val="75000"/>
                  </a:prstClr>
                </a:solidFill>
              </a:rPr>
              <a:pPr/>
              <a:t>16-08-2026</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2389860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F0F590-EBB0-4769-8E81-A1AE2A63508C}" type="datetime1">
              <a:rPr lang="en-IN" smtClean="0">
                <a:solidFill>
                  <a:prstClr val="black">
                    <a:tint val="75000"/>
                  </a:prstClr>
                </a:solidFill>
              </a:rPr>
              <a:pPr/>
              <a:t>16-08-2026</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202584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926397"/>
            <a:ext cx="9733312" cy="10242392"/>
          </a:xfrm>
        </p:spPr>
        <p:txBody>
          <a:bodyPr anchor="b"/>
          <a:lstStyle>
            <a:lvl1pPr>
              <a:defRPr sz="11338"/>
            </a:lvl1pPr>
          </a:lstStyle>
          <a:p>
            <a:r>
              <a:rPr lang="en-US"/>
              <a:t>Click to edit Master title style</a:t>
            </a:r>
            <a:endParaRPr lang="en-US" dirty="0"/>
          </a:p>
        </p:txBody>
      </p:sp>
      <p:sp>
        <p:nvSpPr>
          <p:cNvPr id="3" name="Content Placeholder 2"/>
          <p:cNvSpPr>
            <a:spLocks noGrp="1"/>
          </p:cNvSpPr>
          <p:nvPr>
            <p:ph idx="1"/>
          </p:nvPr>
        </p:nvSpPr>
        <p:spPr>
          <a:xfrm>
            <a:off x="12829740" y="6320217"/>
            <a:ext cx="15277803" cy="31194584"/>
          </a:xfrm>
        </p:spPr>
        <p:txBody>
          <a:bodyPr/>
          <a:lstStyle>
            <a:lvl1pPr>
              <a:defRPr sz="11338"/>
            </a:lvl1pPr>
            <a:lvl2pPr>
              <a:defRPr sz="9921"/>
            </a:lvl2pPr>
            <a:lvl3pPr>
              <a:defRPr sz="8504"/>
            </a:lvl3pPr>
            <a:lvl4pPr>
              <a:defRPr sz="7086"/>
            </a:lvl4pPr>
            <a:lvl5pPr>
              <a:defRPr sz="7086"/>
            </a:lvl5pPr>
            <a:lvl6pPr>
              <a:defRPr sz="7086"/>
            </a:lvl6pPr>
            <a:lvl7pPr>
              <a:defRPr sz="7086"/>
            </a:lvl7pPr>
            <a:lvl8pPr>
              <a:defRPr sz="7086"/>
            </a:lvl8pPr>
            <a:lvl9pPr>
              <a:defRPr sz="708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078694" y="13168788"/>
            <a:ext cx="9733312" cy="24396811"/>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n-US"/>
              <a:t>Click to edit Master text styles</a:t>
            </a:r>
          </a:p>
        </p:txBody>
      </p:sp>
      <p:sp>
        <p:nvSpPr>
          <p:cNvPr id="5" name="Date Placeholder 4"/>
          <p:cNvSpPr>
            <a:spLocks noGrp="1"/>
          </p:cNvSpPr>
          <p:nvPr>
            <p:ph type="dt" sz="half" idx="10"/>
          </p:nvPr>
        </p:nvSpPr>
        <p:spPr/>
        <p:txBody>
          <a:bodyPr/>
          <a:lstStyle/>
          <a:p>
            <a:fld id="{FBAAB06B-37BB-4476-86BD-5493E8063AD6}" type="datetime1">
              <a:rPr lang="en-IN" smtClean="0">
                <a:solidFill>
                  <a:prstClr val="black">
                    <a:tint val="75000"/>
                  </a:prstClr>
                </a:solidFill>
              </a:rPr>
              <a:pPr/>
              <a:t>16-08-2026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130699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8694" y="2926397"/>
            <a:ext cx="9733312" cy="10242392"/>
          </a:xfrm>
        </p:spPr>
        <p:txBody>
          <a:bodyPr anchor="b"/>
          <a:lstStyle>
            <a:lvl1pPr>
              <a:defRPr sz="11338"/>
            </a:lvl1pPr>
          </a:lstStyle>
          <a:p>
            <a:r>
              <a:rPr lang="en-US"/>
              <a:t>Click to edit Master title style</a:t>
            </a:r>
            <a:endParaRPr lang="en-US" dirty="0"/>
          </a:p>
        </p:txBody>
      </p:sp>
      <p:sp>
        <p:nvSpPr>
          <p:cNvPr id="3" name="Picture Placeholder 2"/>
          <p:cNvSpPr>
            <a:spLocks noGrp="1" noChangeAspect="1"/>
          </p:cNvSpPr>
          <p:nvPr>
            <p:ph type="pic" idx="1"/>
          </p:nvPr>
        </p:nvSpPr>
        <p:spPr>
          <a:xfrm>
            <a:off x="12829740" y="6320217"/>
            <a:ext cx="15277803" cy="31194584"/>
          </a:xfrm>
        </p:spPr>
        <p:txBody>
          <a:bodyPr anchor="t"/>
          <a:lstStyle>
            <a:lvl1pPr marL="0" indent="0">
              <a:buNone/>
              <a:defRPr sz="11338"/>
            </a:lvl1pPr>
            <a:lvl2pPr marL="1619951" indent="0">
              <a:buNone/>
              <a:defRPr sz="9921"/>
            </a:lvl2pPr>
            <a:lvl3pPr marL="3239902" indent="0">
              <a:buNone/>
              <a:defRPr sz="8504"/>
            </a:lvl3pPr>
            <a:lvl4pPr marL="4859853" indent="0">
              <a:buNone/>
              <a:defRPr sz="7086"/>
            </a:lvl4pPr>
            <a:lvl5pPr marL="6479804" indent="0">
              <a:buNone/>
              <a:defRPr sz="7086"/>
            </a:lvl5pPr>
            <a:lvl6pPr marL="8099755" indent="0">
              <a:buNone/>
              <a:defRPr sz="7086"/>
            </a:lvl6pPr>
            <a:lvl7pPr marL="9719706" indent="0">
              <a:buNone/>
              <a:defRPr sz="7086"/>
            </a:lvl7pPr>
            <a:lvl8pPr marL="11339657" indent="0">
              <a:buNone/>
              <a:defRPr sz="7086"/>
            </a:lvl8pPr>
            <a:lvl9pPr marL="12959608" indent="0">
              <a:buNone/>
              <a:defRPr sz="7086"/>
            </a:lvl9pPr>
          </a:lstStyle>
          <a:p>
            <a:r>
              <a:rPr lang="en-US"/>
              <a:t>Click icon to add picture</a:t>
            </a:r>
            <a:endParaRPr lang="en-US" dirty="0"/>
          </a:p>
        </p:txBody>
      </p:sp>
      <p:sp>
        <p:nvSpPr>
          <p:cNvPr id="4" name="Text Placeholder 3"/>
          <p:cNvSpPr>
            <a:spLocks noGrp="1"/>
          </p:cNvSpPr>
          <p:nvPr>
            <p:ph type="body" sz="half" idx="2"/>
          </p:nvPr>
        </p:nvSpPr>
        <p:spPr>
          <a:xfrm>
            <a:off x="2078694" y="13168788"/>
            <a:ext cx="9733312" cy="24396811"/>
          </a:xfrm>
        </p:spPr>
        <p:txBody>
          <a:bodyPr/>
          <a:lstStyle>
            <a:lvl1pPr marL="0" indent="0">
              <a:buNone/>
              <a:defRPr sz="5669"/>
            </a:lvl1pPr>
            <a:lvl2pPr marL="1619951" indent="0">
              <a:buNone/>
              <a:defRPr sz="4960"/>
            </a:lvl2pPr>
            <a:lvl3pPr marL="3239902" indent="0">
              <a:buNone/>
              <a:defRPr sz="4252"/>
            </a:lvl3pPr>
            <a:lvl4pPr marL="4859853" indent="0">
              <a:buNone/>
              <a:defRPr sz="3543"/>
            </a:lvl4pPr>
            <a:lvl5pPr marL="6479804" indent="0">
              <a:buNone/>
              <a:defRPr sz="3543"/>
            </a:lvl5pPr>
            <a:lvl6pPr marL="8099755" indent="0">
              <a:buNone/>
              <a:defRPr sz="3543"/>
            </a:lvl6pPr>
            <a:lvl7pPr marL="9719706" indent="0">
              <a:buNone/>
              <a:defRPr sz="3543"/>
            </a:lvl7pPr>
            <a:lvl8pPr marL="11339657" indent="0">
              <a:buNone/>
              <a:defRPr sz="3543"/>
            </a:lvl8pPr>
            <a:lvl9pPr marL="12959608" indent="0">
              <a:buNone/>
              <a:defRPr sz="3543"/>
            </a:lvl9pPr>
          </a:lstStyle>
          <a:p>
            <a:pPr lvl="0"/>
            <a:r>
              <a:rPr lang="en-US"/>
              <a:t>Click to edit Master text styles</a:t>
            </a:r>
          </a:p>
        </p:txBody>
      </p:sp>
      <p:sp>
        <p:nvSpPr>
          <p:cNvPr id="5" name="Date Placeholder 4"/>
          <p:cNvSpPr>
            <a:spLocks noGrp="1"/>
          </p:cNvSpPr>
          <p:nvPr>
            <p:ph type="dt" sz="half" idx="10"/>
          </p:nvPr>
        </p:nvSpPr>
        <p:spPr/>
        <p:txBody>
          <a:bodyPr/>
          <a:lstStyle/>
          <a:p>
            <a:fld id="{407E2130-D41B-4B31-8096-8B744821C4FA}" type="datetime1">
              <a:rPr lang="en-IN" smtClean="0">
                <a:solidFill>
                  <a:prstClr val="black">
                    <a:tint val="75000"/>
                  </a:prstClr>
                </a:solidFill>
              </a:rPr>
              <a:pPr/>
              <a:t>16-08-2026</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2140109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5C0909F-4336-4E7A-B71F-EF95BA7BB5F1}" type="datetime1">
              <a:rPr lang="en-IN" smtClean="0">
                <a:solidFill>
                  <a:prstClr val="black">
                    <a:tint val="75000"/>
                  </a:prstClr>
                </a:solidFill>
              </a:rPr>
              <a:pPr/>
              <a:t>16-08-2026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7276594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596401" y="2337054"/>
            <a:ext cx="6507212" cy="37199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074765" y="2337054"/>
            <a:ext cx="19144406" cy="37199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31A55C-A904-438F-BFC6-5DD33868CEF6}" type="datetime1">
              <a:rPr lang="en-IN" smtClean="0">
                <a:solidFill>
                  <a:prstClr val="black">
                    <a:tint val="75000"/>
                  </a:prstClr>
                </a:solidFill>
              </a:rPr>
              <a:pPr/>
              <a:t>16-08-2026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81397ED3-58D0-46BB-A21D-C9CCEAB9C1AA}"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68417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75000"/>
            <a:alpha val="24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74763" y="2337064"/>
            <a:ext cx="26028849" cy="848452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074763" y="11685268"/>
            <a:ext cx="26028849" cy="278515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74763" y="40685064"/>
            <a:ext cx="6790135" cy="2337054"/>
          </a:xfrm>
          <a:prstGeom prst="rect">
            <a:avLst/>
          </a:prstGeom>
        </p:spPr>
        <p:txBody>
          <a:bodyPr vert="horz" lIns="91440" tIns="45720" rIns="91440" bIns="45720" rtlCol="0" anchor="ctr"/>
          <a:lstStyle>
            <a:lvl1pPr algn="l">
              <a:defRPr sz="4252">
                <a:solidFill>
                  <a:schemeClr val="tx1">
                    <a:tint val="75000"/>
                  </a:schemeClr>
                </a:solidFill>
              </a:defRPr>
            </a:lvl1pPr>
          </a:lstStyle>
          <a:p>
            <a:pPr defTabSz="2891554"/>
            <a:fld id="{607014D9-B232-468C-BC23-45741E2448D7}" type="datetime1">
              <a:rPr lang="en-IN" smtClean="0">
                <a:solidFill>
                  <a:prstClr val="black">
                    <a:tint val="75000"/>
                  </a:prstClr>
                </a:solidFill>
              </a:rPr>
              <a:pPr defTabSz="2891554"/>
              <a:t>16-08-2026</a:t>
            </a:fld>
            <a:endParaRPr lang="en-IN">
              <a:solidFill>
                <a:prstClr val="black">
                  <a:tint val="75000"/>
                </a:prstClr>
              </a:solidFill>
            </a:endParaRPr>
          </a:p>
        </p:txBody>
      </p:sp>
      <p:sp>
        <p:nvSpPr>
          <p:cNvPr id="5" name="Footer Placeholder 4"/>
          <p:cNvSpPr>
            <a:spLocks noGrp="1"/>
          </p:cNvSpPr>
          <p:nvPr>
            <p:ph type="ftr" sz="quarter" idx="3"/>
          </p:nvPr>
        </p:nvSpPr>
        <p:spPr>
          <a:xfrm>
            <a:off x="9996587" y="40685064"/>
            <a:ext cx="10185202" cy="2337054"/>
          </a:xfrm>
          <a:prstGeom prst="rect">
            <a:avLst/>
          </a:prstGeom>
        </p:spPr>
        <p:txBody>
          <a:bodyPr vert="horz" lIns="91440" tIns="45720" rIns="91440" bIns="45720" rtlCol="0" anchor="ctr"/>
          <a:lstStyle>
            <a:lvl1pPr algn="ctr">
              <a:defRPr sz="4252">
                <a:solidFill>
                  <a:schemeClr val="tx1">
                    <a:tint val="75000"/>
                  </a:schemeClr>
                </a:solidFill>
              </a:defRPr>
            </a:lvl1pPr>
          </a:lstStyle>
          <a:p>
            <a:pPr defTabSz="2891554"/>
            <a:endParaRPr lang="en-IN">
              <a:solidFill>
                <a:prstClr val="black">
                  <a:tint val="75000"/>
                </a:prstClr>
              </a:solidFill>
            </a:endParaRPr>
          </a:p>
        </p:txBody>
      </p:sp>
      <p:sp>
        <p:nvSpPr>
          <p:cNvPr id="6" name="Slide Number Placeholder 5"/>
          <p:cNvSpPr>
            <a:spLocks noGrp="1"/>
          </p:cNvSpPr>
          <p:nvPr>
            <p:ph type="sldNum" sz="quarter" idx="4"/>
          </p:nvPr>
        </p:nvSpPr>
        <p:spPr>
          <a:xfrm>
            <a:off x="21313477" y="40685064"/>
            <a:ext cx="6790135" cy="2337054"/>
          </a:xfrm>
          <a:prstGeom prst="rect">
            <a:avLst/>
          </a:prstGeom>
        </p:spPr>
        <p:txBody>
          <a:bodyPr vert="horz" lIns="91440" tIns="45720" rIns="91440" bIns="45720" rtlCol="0" anchor="ctr"/>
          <a:lstStyle>
            <a:lvl1pPr algn="r">
              <a:defRPr sz="4252">
                <a:solidFill>
                  <a:schemeClr val="tx1">
                    <a:tint val="75000"/>
                  </a:schemeClr>
                </a:solidFill>
              </a:defRPr>
            </a:lvl1pPr>
          </a:lstStyle>
          <a:p>
            <a:pPr defTabSz="2891554"/>
            <a:fld id="{81397ED3-58D0-46BB-A21D-C9CCEAB9C1AA}" type="slidenum">
              <a:rPr lang="en-IN" smtClean="0">
                <a:solidFill>
                  <a:prstClr val="black">
                    <a:tint val="75000"/>
                  </a:prstClr>
                </a:solidFill>
              </a:rPr>
              <a:pPr defTabSz="2891554"/>
              <a:t>‹#›</a:t>
            </a:fld>
            <a:endParaRPr lang="en-IN">
              <a:solidFill>
                <a:prstClr val="black">
                  <a:tint val="75000"/>
                </a:prstClr>
              </a:solidFill>
            </a:endParaRPr>
          </a:p>
        </p:txBody>
      </p:sp>
    </p:spTree>
    <p:extLst>
      <p:ext uri="{BB962C8B-B14F-4D97-AF65-F5344CB8AC3E}">
        <p14:creationId xmlns:p14="http://schemas.microsoft.com/office/powerpoint/2010/main" val="655055699"/>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sldNum="0" hdr="0" ftr="0" dt="0"/>
  <p:txStyles>
    <p:titleStyle>
      <a:lvl1pPr algn="l" defTabSz="3239902" rtl="0" eaLnBrk="1" latinLnBrk="0" hangingPunct="1">
        <a:lnSpc>
          <a:spcPct val="90000"/>
        </a:lnSpc>
        <a:spcBef>
          <a:spcPct val="0"/>
        </a:spcBef>
        <a:buNone/>
        <a:defRPr sz="15590" kern="1200">
          <a:solidFill>
            <a:schemeClr val="tx1"/>
          </a:solidFill>
          <a:latin typeface="+mj-lt"/>
          <a:ea typeface="+mj-ea"/>
          <a:cs typeface="+mj-cs"/>
        </a:defRPr>
      </a:lvl1pPr>
    </p:titleStyle>
    <p:bodyStyle>
      <a:lvl1pPr marL="809976" indent="-809976" algn="l" defTabSz="3239902" rtl="0" eaLnBrk="1" latinLnBrk="0" hangingPunct="1">
        <a:lnSpc>
          <a:spcPct val="90000"/>
        </a:lnSpc>
        <a:spcBef>
          <a:spcPts val="3543"/>
        </a:spcBef>
        <a:buFont typeface="Arial" panose="020B0604020202020204" pitchFamily="34" charset="0"/>
        <a:buChar char="•"/>
        <a:defRPr sz="9921" kern="1200">
          <a:solidFill>
            <a:schemeClr val="tx1"/>
          </a:solidFill>
          <a:latin typeface="+mn-lt"/>
          <a:ea typeface="+mn-ea"/>
          <a:cs typeface="+mn-cs"/>
        </a:defRPr>
      </a:lvl1pPr>
      <a:lvl2pPr marL="2429927" indent="-809976" algn="l" defTabSz="3239902" rtl="0" eaLnBrk="1" latinLnBrk="0" hangingPunct="1">
        <a:lnSpc>
          <a:spcPct val="90000"/>
        </a:lnSpc>
        <a:spcBef>
          <a:spcPts val="1772"/>
        </a:spcBef>
        <a:buFont typeface="Arial" panose="020B0604020202020204" pitchFamily="34" charset="0"/>
        <a:buChar char="•"/>
        <a:defRPr sz="8504" kern="1200">
          <a:solidFill>
            <a:schemeClr val="tx1"/>
          </a:solidFill>
          <a:latin typeface="+mn-lt"/>
          <a:ea typeface="+mn-ea"/>
          <a:cs typeface="+mn-cs"/>
        </a:defRPr>
      </a:lvl2pPr>
      <a:lvl3pPr marL="4049878" indent="-809976" algn="l" defTabSz="3239902" rtl="0" eaLnBrk="1" latinLnBrk="0" hangingPunct="1">
        <a:lnSpc>
          <a:spcPct val="90000"/>
        </a:lnSpc>
        <a:spcBef>
          <a:spcPts val="1772"/>
        </a:spcBef>
        <a:buFont typeface="Arial" panose="020B0604020202020204" pitchFamily="34" charset="0"/>
        <a:buChar char="•"/>
        <a:defRPr sz="7086" kern="1200">
          <a:solidFill>
            <a:schemeClr val="tx1"/>
          </a:solidFill>
          <a:latin typeface="+mn-lt"/>
          <a:ea typeface="+mn-ea"/>
          <a:cs typeface="+mn-cs"/>
        </a:defRPr>
      </a:lvl3pPr>
      <a:lvl4pPr marL="5669829"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4pPr>
      <a:lvl5pPr marL="7289780"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5pPr>
      <a:lvl6pPr marL="8909731"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6pPr>
      <a:lvl7pPr marL="10529682"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7pPr>
      <a:lvl8pPr marL="12149633"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8pPr>
      <a:lvl9pPr marL="13769584" indent="-809976" algn="l" defTabSz="3239902" rtl="0" eaLnBrk="1" latinLnBrk="0" hangingPunct="1">
        <a:lnSpc>
          <a:spcPct val="90000"/>
        </a:lnSpc>
        <a:spcBef>
          <a:spcPts val="1772"/>
        </a:spcBef>
        <a:buFont typeface="Arial" panose="020B0604020202020204" pitchFamily="34" charset="0"/>
        <a:buChar char="•"/>
        <a:defRPr sz="6378" kern="1200">
          <a:solidFill>
            <a:schemeClr val="tx1"/>
          </a:solidFill>
          <a:latin typeface="+mn-lt"/>
          <a:ea typeface="+mn-ea"/>
          <a:cs typeface="+mn-cs"/>
        </a:defRPr>
      </a:lvl9pPr>
    </p:bodyStyle>
    <p:otherStyle>
      <a:defPPr>
        <a:defRPr lang="en-US"/>
      </a:defPPr>
      <a:lvl1pPr marL="0" algn="l" defTabSz="3239902" rtl="0" eaLnBrk="1" latinLnBrk="0" hangingPunct="1">
        <a:defRPr sz="6378" kern="1200">
          <a:solidFill>
            <a:schemeClr val="tx1"/>
          </a:solidFill>
          <a:latin typeface="+mn-lt"/>
          <a:ea typeface="+mn-ea"/>
          <a:cs typeface="+mn-cs"/>
        </a:defRPr>
      </a:lvl1pPr>
      <a:lvl2pPr marL="1619951" algn="l" defTabSz="3239902" rtl="0" eaLnBrk="1" latinLnBrk="0" hangingPunct="1">
        <a:defRPr sz="6378" kern="1200">
          <a:solidFill>
            <a:schemeClr val="tx1"/>
          </a:solidFill>
          <a:latin typeface="+mn-lt"/>
          <a:ea typeface="+mn-ea"/>
          <a:cs typeface="+mn-cs"/>
        </a:defRPr>
      </a:lvl2pPr>
      <a:lvl3pPr marL="3239902" algn="l" defTabSz="3239902" rtl="0" eaLnBrk="1" latinLnBrk="0" hangingPunct="1">
        <a:defRPr sz="6378" kern="1200">
          <a:solidFill>
            <a:schemeClr val="tx1"/>
          </a:solidFill>
          <a:latin typeface="+mn-lt"/>
          <a:ea typeface="+mn-ea"/>
          <a:cs typeface="+mn-cs"/>
        </a:defRPr>
      </a:lvl3pPr>
      <a:lvl4pPr marL="4859853" algn="l" defTabSz="3239902" rtl="0" eaLnBrk="1" latinLnBrk="0" hangingPunct="1">
        <a:defRPr sz="6378" kern="1200">
          <a:solidFill>
            <a:schemeClr val="tx1"/>
          </a:solidFill>
          <a:latin typeface="+mn-lt"/>
          <a:ea typeface="+mn-ea"/>
          <a:cs typeface="+mn-cs"/>
        </a:defRPr>
      </a:lvl4pPr>
      <a:lvl5pPr marL="6479804" algn="l" defTabSz="3239902" rtl="0" eaLnBrk="1" latinLnBrk="0" hangingPunct="1">
        <a:defRPr sz="6378" kern="1200">
          <a:solidFill>
            <a:schemeClr val="tx1"/>
          </a:solidFill>
          <a:latin typeface="+mn-lt"/>
          <a:ea typeface="+mn-ea"/>
          <a:cs typeface="+mn-cs"/>
        </a:defRPr>
      </a:lvl5pPr>
      <a:lvl6pPr marL="8099755" algn="l" defTabSz="3239902" rtl="0" eaLnBrk="1" latinLnBrk="0" hangingPunct="1">
        <a:defRPr sz="6378" kern="1200">
          <a:solidFill>
            <a:schemeClr val="tx1"/>
          </a:solidFill>
          <a:latin typeface="+mn-lt"/>
          <a:ea typeface="+mn-ea"/>
          <a:cs typeface="+mn-cs"/>
        </a:defRPr>
      </a:lvl6pPr>
      <a:lvl7pPr marL="9719706" algn="l" defTabSz="3239902" rtl="0" eaLnBrk="1" latinLnBrk="0" hangingPunct="1">
        <a:defRPr sz="6378" kern="1200">
          <a:solidFill>
            <a:schemeClr val="tx1"/>
          </a:solidFill>
          <a:latin typeface="+mn-lt"/>
          <a:ea typeface="+mn-ea"/>
          <a:cs typeface="+mn-cs"/>
        </a:defRPr>
      </a:lvl7pPr>
      <a:lvl8pPr marL="11339657" algn="l" defTabSz="3239902" rtl="0" eaLnBrk="1" latinLnBrk="0" hangingPunct="1">
        <a:defRPr sz="6378" kern="1200">
          <a:solidFill>
            <a:schemeClr val="tx1"/>
          </a:solidFill>
          <a:latin typeface="+mn-lt"/>
          <a:ea typeface="+mn-ea"/>
          <a:cs typeface="+mn-cs"/>
        </a:defRPr>
      </a:lvl8pPr>
      <a:lvl9pPr marL="12959608" algn="l" defTabSz="3239902" rtl="0" eaLnBrk="1" latinLnBrk="0" hangingPunct="1">
        <a:defRPr sz="637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EFE0"/>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983DE1D-AADD-49ED-941A-373F8DED2D14}"/>
              </a:ext>
            </a:extLst>
          </p:cNvPr>
          <p:cNvSpPr/>
          <p:nvPr/>
        </p:nvSpPr>
        <p:spPr>
          <a:xfrm>
            <a:off x="357172" y="6899828"/>
            <a:ext cx="13347832" cy="8414163"/>
          </a:xfrm>
          <a:prstGeom prst="rect">
            <a:avLst/>
          </a:prstGeom>
          <a:gradFill flip="none" rotWithShape="1">
            <a:gsLst>
              <a:gs pos="0">
                <a:srgbClr val="F0F6FB"/>
              </a:gs>
              <a:gs pos="100000">
                <a:srgbClr val="C7DBEA"/>
              </a:gs>
            </a:gsLst>
            <a:lin ang="5400000" scaled="1"/>
            <a:tileRect/>
          </a:gradFill>
          <a:ln>
            <a:solidFill>
              <a:schemeClr val="accent1">
                <a:lumMod val="50000"/>
              </a:schemeClr>
            </a:solidFill>
          </a:ln>
        </p:spPr>
        <p:txBody>
          <a:bodyPr wrap="square">
            <a:spAutoFit/>
          </a:bodyPr>
          <a:lstStyle/>
          <a:p>
            <a:pPr marL="457200" indent="-457200" algn="just">
              <a:lnSpc>
                <a:spcPct val="107000"/>
              </a:lnSpc>
              <a:spcAft>
                <a:spcPts val="800"/>
              </a:spcAft>
              <a:buFont typeface="Wingdings" panose="05000000000000000000" pitchFamily="2" charset="2"/>
              <a:buChar char="Ø"/>
            </a:pPr>
            <a:endParaRPr lang="en-US" sz="3600" dirty="0" smtClean="0">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smtClean="0">
                <a:latin typeface="Times New Roman" panose="02020603050405020304" pitchFamily="18" charset="0"/>
                <a:cs typeface="Times New Roman" panose="02020603050405020304" pitchFamily="18" charset="0"/>
              </a:rPr>
              <a:t>Cowpea </a:t>
            </a:r>
            <a:r>
              <a:rPr lang="en-US" sz="3600" dirty="0">
                <a:latin typeface="Times New Roman" panose="02020603050405020304" pitchFamily="18" charset="0"/>
                <a:cs typeface="Times New Roman" panose="02020603050405020304" pitchFamily="18" charset="0"/>
              </a:rPr>
              <a:t>(</a:t>
            </a:r>
            <a:r>
              <a:rPr lang="en-US" sz="3600" i="1" dirty="0" err="1">
                <a:latin typeface="Times New Roman" panose="02020603050405020304" pitchFamily="18" charset="0"/>
                <a:cs typeface="Times New Roman" panose="02020603050405020304" pitchFamily="18" charset="0"/>
              </a:rPr>
              <a:t>Vigna</a:t>
            </a:r>
            <a:r>
              <a:rPr lang="en-US" sz="3600" i="1" dirty="0">
                <a:latin typeface="Times New Roman" panose="02020603050405020304" pitchFamily="18" charset="0"/>
                <a:cs typeface="Times New Roman" panose="02020603050405020304" pitchFamily="18" charset="0"/>
              </a:rPr>
              <a:t> </a:t>
            </a:r>
            <a:r>
              <a:rPr lang="en-US" sz="3600" i="1" dirty="0" err="1">
                <a:latin typeface="Times New Roman" panose="02020603050405020304" pitchFamily="18" charset="0"/>
                <a:cs typeface="Times New Roman" panose="02020603050405020304" pitchFamily="18" charset="0"/>
              </a:rPr>
              <a:t>unguiculata</a:t>
            </a:r>
            <a:r>
              <a:rPr lang="en-US" sz="3600" dirty="0">
                <a:latin typeface="Times New Roman" panose="02020603050405020304" pitchFamily="18" charset="0"/>
                <a:cs typeface="Times New Roman" panose="02020603050405020304" pitchFamily="18" charset="0"/>
              </a:rPr>
              <a:t> L. </a:t>
            </a:r>
            <a:r>
              <a:rPr lang="en-US" sz="3600" dirty="0" err="1">
                <a:latin typeface="Times New Roman" panose="02020603050405020304" pitchFamily="18" charset="0"/>
                <a:cs typeface="Times New Roman" panose="02020603050405020304" pitchFamily="18" charset="0"/>
              </a:rPr>
              <a:t>Walp</a:t>
            </a:r>
            <a:r>
              <a:rPr lang="en-US" sz="3600" dirty="0">
                <a:latin typeface="Times New Roman" panose="02020603050405020304" pitchFamily="18" charset="0"/>
                <a:cs typeface="Times New Roman" panose="02020603050405020304" pitchFamily="18" charset="0"/>
              </a:rPr>
              <a:t>.) is an important grain legume valued for its high protein content and adaptability to diverse environments</a:t>
            </a:r>
            <a:r>
              <a:rPr lang="en-US" sz="3600" dirty="0" smtClean="0">
                <a:latin typeface="Times New Roman" panose="02020603050405020304" pitchFamily="18" charset="0"/>
                <a:cs typeface="Times New Roman" panose="02020603050405020304" pitchFamily="18" charset="0"/>
              </a:rPr>
              <a:t>.</a:t>
            </a:r>
            <a:endParaRPr lang="en-IN" sz="3600" kern="100" dirty="0">
              <a:solidFill>
                <a:srgbClr val="000000"/>
              </a:solidFill>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endParaRPr lang="en-IN" sz="3600" kern="100" dirty="0">
              <a:solidFill>
                <a:srgbClr val="000000"/>
              </a:solidFill>
              <a:latin typeface="Times New Roman" panose="02020603050405020304" pitchFamily="18" charset="0"/>
              <a:ea typeface="Aptos"/>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Grain yield is a complex trait influenced by several quantitative characters</a:t>
            </a:r>
            <a:r>
              <a:rPr lang="en-US" sz="3600" dirty="0" smtClean="0">
                <a:latin typeface="Times New Roman" panose="02020603050405020304" pitchFamily="18" charset="0"/>
                <a:cs typeface="Times New Roman" panose="02020603050405020304" pitchFamily="18" charset="0"/>
              </a:rPr>
              <a:t>. Genetic </a:t>
            </a:r>
            <a:r>
              <a:rPr lang="en-US" sz="3600" dirty="0">
                <a:latin typeface="Times New Roman" panose="02020603050405020304" pitchFamily="18" charset="0"/>
                <a:cs typeface="Times New Roman" panose="02020603050405020304" pitchFamily="18" charset="0"/>
              </a:rPr>
              <a:t>diversity is essential for identifying superior genotypes and developing improved varieties</a:t>
            </a:r>
            <a:r>
              <a:rPr lang="en-US" sz="3600" dirty="0" smtClean="0">
                <a:latin typeface="Times New Roman" panose="02020603050405020304" pitchFamily="18" charset="0"/>
                <a:cs typeface="Times New Roman" panose="02020603050405020304" pitchFamily="18" charset="0"/>
              </a:rPr>
              <a:t>.</a:t>
            </a:r>
          </a:p>
          <a:p>
            <a:pPr marL="457200" indent="-457200" algn="just">
              <a:lnSpc>
                <a:spcPct val="107000"/>
              </a:lnSpc>
              <a:spcAft>
                <a:spcPts val="800"/>
              </a:spcAft>
              <a:buFont typeface="Wingdings" panose="05000000000000000000" pitchFamily="2" charset="2"/>
              <a:buChar char="Ø"/>
            </a:pPr>
            <a:endParaRPr lang="en-US" sz="3600" dirty="0">
              <a:latin typeface="Times New Roman" panose="02020603050405020304" pitchFamily="18" charset="0"/>
              <a:cs typeface="Times New Roman" panose="02020603050405020304" pitchFamily="18" charset="0"/>
            </a:endParaRPr>
          </a:p>
          <a:p>
            <a:pPr marL="457200" indent="-457200" algn="just">
              <a:lnSpc>
                <a:spcPct val="107000"/>
              </a:lnSpc>
              <a:spcAft>
                <a:spcPts val="80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Principal Component Analysis (PCA) helps identify key traits contributing to genetic variation and supports effective selection in breeding </a:t>
            </a:r>
            <a:r>
              <a:rPr lang="en-US" sz="3600" dirty="0" err="1">
                <a:latin typeface="Times New Roman" panose="02020603050405020304" pitchFamily="18" charset="0"/>
                <a:cs typeface="Times New Roman" panose="02020603050405020304" pitchFamily="18" charset="0"/>
              </a:rPr>
              <a:t>programmes</a:t>
            </a:r>
            <a:r>
              <a:rPr lang="en-US" sz="3600" dirty="0" smtClean="0">
                <a:latin typeface="Times New Roman" panose="02020603050405020304" pitchFamily="18" charset="0"/>
                <a:cs typeface="Times New Roman" panose="02020603050405020304" pitchFamily="18" charset="0"/>
              </a:rPr>
              <a:t>.</a:t>
            </a:r>
          </a:p>
          <a:p>
            <a:pPr marL="457200" indent="-457200" algn="just">
              <a:lnSpc>
                <a:spcPct val="107000"/>
              </a:lnSpc>
              <a:spcAft>
                <a:spcPts val="800"/>
              </a:spcAft>
              <a:buFont typeface="Wingdings" panose="05000000000000000000" pitchFamily="2" charset="2"/>
              <a:buChar char="Ø"/>
            </a:pPr>
            <a:endParaRPr lang="en-US" sz="36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5" name="Rectangle 14">
            <a:extLst>
              <a:ext uri="{FF2B5EF4-FFF2-40B4-BE49-F238E27FC236}">
                <a16:creationId xmlns:a16="http://schemas.microsoft.com/office/drawing/2014/main" id="{4263CDAD-DAC2-4CF5-BDAA-BF7F0B3E0C0B}"/>
              </a:ext>
            </a:extLst>
          </p:cNvPr>
          <p:cNvSpPr/>
          <p:nvPr/>
        </p:nvSpPr>
        <p:spPr>
          <a:xfrm>
            <a:off x="368501" y="18416597"/>
            <a:ext cx="13371772" cy="6774759"/>
          </a:xfrm>
          <a:prstGeom prst="rect">
            <a:avLst/>
          </a:prstGeom>
          <a:gradFill flip="none" rotWithShape="1">
            <a:gsLst>
              <a:gs pos="0">
                <a:srgbClr val="F1F7EA"/>
              </a:gs>
              <a:gs pos="100000">
                <a:srgbClr val="D8E5C4"/>
              </a:gs>
            </a:gsLst>
            <a:path path="circl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CB97330-AE8C-43D8-89F1-119EBA595B8B}"/>
              </a:ext>
            </a:extLst>
          </p:cNvPr>
          <p:cNvSpPr/>
          <p:nvPr/>
        </p:nvSpPr>
        <p:spPr>
          <a:xfrm>
            <a:off x="319693" y="18698061"/>
            <a:ext cx="13393696" cy="7894469"/>
          </a:xfrm>
          <a:prstGeom prst="rect">
            <a:avLst/>
          </a:prstGeom>
          <a:gradFill flip="none" rotWithShape="1">
            <a:gsLst>
              <a:gs pos="0">
                <a:srgbClr val="FFF9E3"/>
              </a:gs>
              <a:gs pos="100000">
                <a:srgbClr val="F0DCA0"/>
              </a:gs>
            </a:gsLst>
            <a:lin ang="5400000" scaled="1"/>
            <a:tileRect/>
          </a:gradFill>
          <a:ln>
            <a:solidFill>
              <a:schemeClr val="tx1"/>
            </a:solidFill>
          </a:ln>
        </p:spPr>
        <p:txBody>
          <a:bodyPr wrap="square">
            <a:spAutoFit/>
          </a:bodyPr>
          <a:lstStyle/>
          <a:p>
            <a:pPr marL="571500" indent="-571500" algn="just">
              <a:spcBef>
                <a:spcPts val="1800"/>
              </a:spcBef>
              <a:spcAft>
                <a:spcPts val="1800"/>
              </a:spcAft>
              <a:buFont typeface="Wingdings" pitchFamily="2" charset="2"/>
              <a:buChar char="Ø"/>
            </a:pPr>
            <a:endParaRPr lang="en-US" sz="3600" dirty="0" smtClean="0">
              <a:latin typeface="Times New Roman" pitchFamily="18" charset="0"/>
              <a:cs typeface="Times New Roman" pitchFamily="18" charset="0"/>
            </a:endParaRPr>
          </a:p>
          <a:p>
            <a:pPr marL="571500" indent="-571500" algn="just">
              <a:spcBef>
                <a:spcPts val="1800"/>
              </a:spcBef>
              <a:spcAft>
                <a:spcPts val="1800"/>
              </a:spcAft>
              <a:buFont typeface="Wingdings" pitchFamily="2" charset="2"/>
              <a:buChar char="Ø"/>
            </a:pPr>
            <a:r>
              <a:rPr lang="en-US" sz="3600" dirty="0" smtClean="0">
                <a:latin typeface="Times New Roman" pitchFamily="18" charset="0"/>
                <a:cs typeface="Times New Roman" pitchFamily="18" charset="0"/>
              </a:rPr>
              <a:t>The </a:t>
            </a:r>
            <a:r>
              <a:rPr lang="en-US" sz="3600" dirty="0">
                <a:latin typeface="Times New Roman" pitchFamily="18" charset="0"/>
                <a:cs typeface="Times New Roman" pitchFamily="18" charset="0"/>
              </a:rPr>
              <a:t>present investigation was conducted at </a:t>
            </a:r>
            <a:r>
              <a:rPr lang="en-US" sz="3600" dirty="0" smtClean="0">
                <a:latin typeface="Times New Roman" pitchFamily="18" charset="0"/>
                <a:cs typeface="Times New Roman" pitchFamily="18" charset="0"/>
              </a:rPr>
              <a:t>College of Agriculture, </a:t>
            </a:r>
            <a:r>
              <a:rPr lang="en-US" sz="3600" dirty="0" err="1" smtClean="0">
                <a:latin typeface="Times New Roman" pitchFamily="18" charset="0"/>
                <a:cs typeface="Times New Roman" pitchFamily="18" charset="0"/>
              </a:rPr>
              <a:t>Kalaburagi</a:t>
            </a:r>
            <a:r>
              <a:rPr lang="en-US" sz="3600" dirty="0" smtClean="0">
                <a:latin typeface="Times New Roman" pitchFamily="18" charset="0"/>
                <a:cs typeface="Times New Roman" pitchFamily="18" charset="0"/>
              </a:rPr>
              <a:t> </a:t>
            </a:r>
            <a:r>
              <a:rPr lang="en-US" sz="3600" dirty="0">
                <a:latin typeface="Times New Roman" pitchFamily="18" charset="0"/>
                <a:cs typeface="Times New Roman" pitchFamily="18" charset="0"/>
              </a:rPr>
              <a:t>during </a:t>
            </a:r>
            <a:r>
              <a:rPr lang="en-US" sz="3600" i="1" dirty="0" err="1" smtClean="0">
                <a:latin typeface="Times New Roman" pitchFamily="18" charset="0"/>
                <a:cs typeface="Times New Roman" pitchFamily="18" charset="0"/>
              </a:rPr>
              <a:t>kharif</a:t>
            </a:r>
            <a:r>
              <a:rPr lang="en-US" sz="3600" dirty="0" smtClean="0">
                <a:latin typeface="Times New Roman" pitchFamily="18" charset="0"/>
                <a:cs typeface="Times New Roman" pitchFamily="18" charset="0"/>
              </a:rPr>
              <a:t> 2025. </a:t>
            </a:r>
            <a:r>
              <a:rPr lang="en-US" sz="3600" dirty="0">
                <a:latin typeface="Times New Roman" pitchFamily="18" charset="0"/>
                <a:cs typeface="Times New Roman" pitchFamily="18" charset="0"/>
              </a:rPr>
              <a:t>The experimental material </a:t>
            </a:r>
            <a:r>
              <a:rPr lang="en-US" sz="3600" dirty="0" smtClean="0">
                <a:latin typeface="Times New Roman" pitchFamily="18" charset="0"/>
                <a:cs typeface="Times New Roman" pitchFamily="18" charset="0"/>
              </a:rPr>
              <a:t>consists of 107 cowpea genotypes with five checks  viz.,</a:t>
            </a:r>
            <a:r>
              <a:rPr lang="en-US" sz="3600" dirty="0"/>
              <a:t> </a:t>
            </a:r>
            <a:r>
              <a:rPr lang="en-US" sz="3600" dirty="0">
                <a:latin typeface="Times New Roman" panose="02020603050405020304" pitchFamily="18" charset="0"/>
                <a:cs typeface="Times New Roman" panose="02020603050405020304" pitchFamily="18" charset="0"/>
              </a:rPr>
              <a:t>C-152, KBC-2, KBC-9, IT-38956-1 and a local </a:t>
            </a:r>
            <a:r>
              <a:rPr lang="en-US" sz="3600" dirty="0" smtClean="0">
                <a:latin typeface="Times New Roman" panose="02020603050405020304" pitchFamily="18" charset="0"/>
                <a:cs typeface="Times New Roman" panose="02020603050405020304" pitchFamily="18" charset="0"/>
              </a:rPr>
              <a:t>variety and were laid out  </a:t>
            </a:r>
            <a:r>
              <a:rPr lang="en-US" sz="3600" dirty="0">
                <a:latin typeface="Times New Roman" pitchFamily="18" charset="0"/>
                <a:cs typeface="Times New Roman" pitchFamily="18" charset="0"/>
              </a:rPr>
              <a:t>in </a:t>
            </a:r>
            <a:r>
              <a:rPr lang="en-US" sz="3600" dirty="0" smtClean="0">
                <a:latin typeface="Times New Roman" pitchFamily="18" charset="0"/>
                <a:cs typeface="Times New Roman" pitchFamily="18" charset="0"/>
              </a:rPr>
              <a:t>an augmented design with six blocks. </a:t>
            </a:r>
          </a:p>
          <a:p>
            <a:pPr marL="571500" indent="-571500" algn="just">
              <a:spcBef>
                <a:spcPts val="1800"/>
              </a:spcBef>
              <a:spcAft>
                <a:spcPts val="1800"/>
              </a:spcAft>
              <a:buFont typeface="Wingdings" pitchFamily="2" charset="2"/>
              <a:buChar char="Ø"/>
            </a:pPr>
            <a:endParaRPr lang="en-US" sz="3600" dirty="0" smtClean="0">
              <a:latin typeface="Times New Roman" pitchFamily="18" charset="0"/>
              <a:cs typeface="Times New Roman" pitchFamily="18" charset="0"/>
            </a:endParaRPr>
          </a:p>
          <a:p>
            <a:pPr marL="571500" indent="-571500" algn="just" defTabSz="394545">
              <a:buFont typeface="Wingdings" panose="05000000000000000000" pitchFamily="2" charset="2"/>
              <a:buChar char="Ø"/>
              <a:tabLst>
                <a:tab pos="7117690" algn="l"/>
              </a:tabLst>
            </a:pPr>
            <a:r>
              <a:rPr lang="en-US" sz="3600" dirty="0" smtClean="0">
                <a:latin typeface="Times New Roman" pitchFamily="18" charset="0"/>
                <a:cs typeface="Times New Roman" pitchFamily="18" charset="0"/>
              </a:rPr>
              <a:t>These cowpea </a:t>
            </a:r>
            <a:r>
              <a:rPr lang="en-US" sz="3600" dirty="0">
                <a:latin typeface="Times New Roman" panose="02020603050405020304" pitchFamily="18" charset="0"/>
                <a:cs typeface="Times New Roman" panose="02020603050405020304" pitchFamily="18" charset="0"/>
              </a:rPr>
              <a:t>genotypes, including five standard checks, were </a:t>
            </a:r>
            <a:r>
              <a:rPr lang="en-US" sz="3600" dirty="0" smtClean="0">
                <a:latin typeface="Times New Roman" panose="02020603050405020304" pitchFamily="18" charset="0"/>
                <a:cs typeface="Times New Roman" panose="02020603050405020304" pitchFamily="18" charset="0"/>
              </a:rPr>
              <a:t>evaluated for </a:t>
            </a:r>
            <a:r>
              <a:rPr lang="en-US" sz="3600" dirty="0">
                <a:latin typeface="Times New Roman" panose="02020603050405020304" pitchFamily="18" charset="0"/>
                <a:cs typeface="Times New Roman" panose="02020603050405020304" pitchFamily="18" charset="0"/>
              </a:rPr>
              <a:t>genetic diversity and principal component analysis (PCA) based on grain yield and its attributing traits</a:t>
            </a:r>
            <a:r>
              <a:rPr lang="en-US" sz="3600" dirty="0" smtClean="0">
                <a:latin typeface="Times New Roman" panose="02020603050405020304" pitchFamily="18" charset="0"/>
                <a:cs typeface="Times New Roman" panose="02020603050405020304" pitchFamily="18" charset="0"/>
              </a:rPr>
              <a:t>.</a:t>
            </a:r>
          </a:p>
          <a:p>
            <a:pPr marL="571500" indent="-571500" algn="just" defTabSz="394545">
              <a:buFont typeface="Wingdings" panose="05000000000000000000" pitchFamily="2" charset="2"/>
              <a:buChar char="Ø"/>
              <a:tabLst>
                <a:tab pos="7117690" algn="l"/>
              </a:tabLst>
            </a:pPr>
            <a:endParaRPr lang="en-US" sz="3600" dirty="0">
              <a:latin typeface="Times New Roman" panose="02020603050405020304" pitchFamily="18" charset="0"/>
              <a:cs typeface="Times New Roman" panose="02020603050405020304" pitchFamily="18" charset="0"/>
            </a:endParaRPr>
          </a:p>
          <a:p>
            <a:pPr marL="571500" indent="-571500" algn="just" defTabSz="394545">
              <a:buFont typeface="Wingdings" panose="05000000000000000000" pitchFamily="2" charset="2"/>
              <a:buChar char="Ø"/>
              <a:tabLst>
                <a:tab pos="7117690" algn="l"/>
              </a:tabLst>
            </a:pPr>
            <a:endParaRPr lang="en-US" sz="3600" dirty="0">
              <a:latin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id="{8511DF06-1EC1-4163-AA38-E3AB3CBE30EF}"/>
              </a:ext>
            </a:extLst>
          </p:cNvPr>
          <p:cNvSpPr/>
          <p:nvPr/>
        </p:nvSpPr>
        <p:spPr>
          <a:xfrm>
            <a:off x="277471" y="26974561"/>
            <a:ext cx="13435918" cy="16096714"/>
          </a:xfrm>
          <a:prstGeom prst="rect">
            <a:avLst/>
          </a:prstGeom>
          <a:gradFill flip="none" rotWithShape="1">
            <a:gsLst>
              <a:gs pos="0">
                <a:srgbClr val="FFF6E8"/>
              </a:gs>
              <a:gs pos="100000">
                <a:srgbClr val="EFC6A0"/>
              </a:gs>
            </a:gsLst>
            <a:path path="circle">
              <a:fillToRect l="50000" t="50000" r="50000" b="50000"/>
            </a:path>
            <a:tileRect/>
          </a:gradFill>
          <a:ln>
            <a:solidFill>
              <a:schemeClr val="tx1"/>
            </a:solidFill>
          </a:ln>
        </p:spPr>
        <p:txBody>
          <a:bodyPr wrap="square" anchor="ctr">
            <a:spAutoFit/>
          </a:bodyPr>
          <a:lstStyle/>
          <a:p>
            <a:pPr marL="571500" indent="-571500" algn="just">
              <a:buFont typeface="Wingdings" panose="05000000000000000000" pitchFamily="2" charset="2"/>
              <a:buChar char="Ø"/>
            </a:pPr>
            <a:endParaRPr lang="en-US" sz="4000" dirty="0" smtClean="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Ø"/>
            </a:pPr>
            <a:endParaRPr lang="en-US" sz="4000" dirty="0" smtClean="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Ø"/>
            </a:pPr>
            <a:r>
              <a:rPr lang="en-US" sz="4000" dirty="0" smtClean="0">
                <a:latin typeface="Times New Roman" panose="02020603050405020304" pitchFamily="18" charset="0"/>
                <a:cs typeface="Times New Roman" panose="02020603050405020304" pitchFamily="18" charset="0"/>
              </a:rPr>
              <a:t>Based </a:t>
            </a:r>
            <a:r>
              <a:rPr lang="en-US" sz="4000" dirty="0">
                <a:latin typeface="Times New Roman" panose="02020603050405020304" pitchFamily="18" charset="0"/>
                <a:cs typeface="Times New Roman" panose="02020603050405020304" pitchFamily="18" charset="0"/>
              </a:rPr>
              <a:t>on </a:t>
            </a:r>
            <a:r>
              <a:rPr lang="en-US" sz="4000" dirty="0" err="1">
                <a:latin typeface="Times New Roman" panose="02020603050405020304" pitchFamily="18" charset="0"/>
                <a:cs typeface="Times New Roman" panose="02020603050405020304" pitchFamily="18" charset="0"/>
              </a:rPr>
              <a:t>Mahalanobis</a:t>
            </a:r>
            <a:r>
              <a:rPr lang="en-US" sz="4000" dirty="0">
                <a:latin typeface="Times New Roman" panose="02020603050405020304" pitchFamily="18" charset="0"/>
                <a:cs typeface="Times New Roman" panose="02020603050405020304" pitchFamily="18" charset="0"/>
              </a:rPr>
              <a:t> D² analysis, the 107 cowpea genotypes were grouped into five clusters. The intra-cluster distance ranged from 0.00 to 7.995, with the highest value recorded in Cluster I (7.995), indicating greater variability within the cluster</a:t>
            </a:r>
            <a:r>
              <a:rPr lang="en-US" sz="4000" dirty="0"/>
              <a:t>,</a:t>
            </a:r>
            <a:r>
              <a:rPr lang="en-US" sz="4000" dirty="0">
                <a:latin typeface="Times New Roman" panose="02020603050405020304" pitchFamily="18" charset="0"/>
                <a:cs typeface="Times New Roman" panose="02020603050405020304" pitchFamily="18" charset="0"/>
              </a:rPr>
              <a:t> this was in accordance with </a:t>
            </a:r>
            <a:r>
              <a:rPr lang="en-US" sz="4000" dirty="0" err="1">
                <a:latin typeface="Times New Roman" panose="02020603050405020304" pitchFamily="18" charset="0"/>
                <a:cs typeface="Times New Roman" panose="02020603050405020304" pitchFamily="18" charset="0"/>
              </a:rPr>
              <a:t>Chipeta</a:t>
            </a:r>
            <a:r>
              <a:rPr lang="en-US" sz="4000" dirty="0">
                <a:latin typeface="Times New Roman" panose="02020603050405020304" pitchFamily="18" charset="0"/>
                <a:cs typeface="Times New Roman" panose="02020603050405020304" pitchFamily="18" charset="0"/>
              </a:rPr>
              <a:t> </a:t>
            </a:r>
            <a:r>
              <a:rPr lang="en-US" sz="4000" i="1" dirty="0">
                <a:latin typeface="Times New Roman" panose="02020603050405020304" pitchFamily="18" charset="0"/>
                <a:cs typeface="Times New Roman" panose="02020603050405020304" pitchFamily="18" charset="0"/>
              </a:rPr>
              <a:t>et al</a:t>
            </a:r>
            <a:r>
              <a:rPr lang="en-US" sz="4000" dirty="0">
                <a:latin typeface="Times New Roman" panose="02020603050405020304" pitchFamily="18" charset="0"/>
                <a:cs typeface="Times New Roman" panose="02020603050405020304" pitchFamily="18" charset="0"/>
              </a:rPr>
              <a:t>.(2025</a:t>
            </a:r>
            <a:r>
              <a:rPr lang="en-US" sz="4000" dirty="0" smtClean="0">
                <a:latin typeface="Times New Roman" panose="02020603050405020304" pitchFamily="18" charset="0"/>
                <a:cs typeface="Times New Roman" panose="02020603050405020304" pitchFamily="18" charset="0"/>
              </a:rPr>
              <a:t>).</a:t>
            </a:r>
          </a:p>
          <a:p>
            <a:pPr marL="571500" indent="-571500"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 The highest inter-cluster distance (9.354) was observed between Cluster I and Cluster IV, indicating maximum genetic divergence and suggesting these clusters as potential parents for hybridization</a:t>
            </a:r>
            <a:r>
              <a:rPr lang="en-US" sz="4000" dirty="0" smtClean="0">
                <a:latin typeface="Times New Roman" panose="02020603050405020304" pitchFamily="18" charset="0"/>
                <a:cs typeface="Times New Roman" panose="02020603050405020304" pitchFamily="18" charset="0"/>
              </a:rPr>
              <a:t>.</a:t>
            </a: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Principal component analysis (PCA) identified five principal components with eigenvalues  greater than 1. </a:t>
            </a:r>
            <a:endParaRPr lang="en-US" sz="4000" dirty="0" smtClean="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PC1 explained the highest variation (20.26%), while PC1 to PC5 together accounted for 69.05% of the total genetic variation cowpea genotypes</a:t>
            </a:r>
            <a:r>
              <a:rPr lang="en-US" sz="4000" dirty="0" smtClean="0">
                <a:latin typeface="Times New Roman" panose="02020603050405020304" pitchFamily="18" charset="0"/>
                <a:cs typeface="Times New Roman" panose="02020603050405020304" pitchFamily="18" charset="0"/>
              </a:rPr>
              <a:t>.</a:t>
            </a:r>
          </a:p>
          <a:p>
            <a:pPr marL="476631" indent="-476631" algn="just">
              <a:buFont typeface="Wingdings" panose="05000000000000000000" pitchFamily="2" charset="2"/>
              <a:buChar char="Ø"/>
            </a:pPr>
            <a:endParaRPr lang="en-US" sz="4000" dirty="0">
              <a:latin typeface="Times New Roman" panose="02020603050405020304" pitchFamily="18" charset="0"/>
              <a:cs typeface="Times New Roman" panose="02020603050405020304" pitchFamily="18" charset="0"/>
            </a:endParaRPr>
          </a:p>
          <a:p>
            <a:pPr marL="476631" indent="-476631" algn="just">
              <a:buFont typeface="Wingdings" panose="05000000000000000000" pitchFamily="2" charset="2"/>
              <a:buChar char="Ø"/>
            </a:pPr>
            <a:r>
              <a:rPr lang="en-US" sz="4000" dirty="0">
                <a:latin typeface="Times New Roman" panose="02020603050405020304" pitchFamily="18" charset="0"/>
                <a:cs typeface="Times New Roman" panose="02020603050405020304" pitchFamily="18" charset="0"/>
              </a:rPr>
              <a:t>Traits such as number of pods per plant (NFPP), number of branches (NB), grain yield per plant (GYPP), number of seeds per pod (NSPP), seed breadth (SB) and seed length (SL) contributed most to the genetic variation</a:t>
            </a:r>
            <a:r>
              <a:rPr lang="en-US" sz="4000" dirty="0" smtClean="0">
                <a:latin typeface="Times New Roman" panose="02020603050405020304" pitchFamily="18" charset="0"/>
                <a:cs typeface="Times New Roman" panose="02020603050405020304" pitchFamily="18" charset="0"/>
              </a:rPr>
              <a:t>.</a:t>
            </a:r>
          </a:p>
          <a:p>
            <a:pPr marL="476631" indent="-476631" algn="just">
              <a:buFont typeface="Wingdings" panose="05000000000000000000" pitchFamily="2" charset="2"/>
              <a:buChar char="Ø"/>
            </a:pPr>
            <a:endParaRPr lang="en-US" sz="4000" dirty="0" smtClean="0">
              <a:latin typeface="Times New Roman" panose="02020603050405020304" pitchFamily="18" charset="0"/>
              <a:cs typeface="Times New Roman" panose="02020603050405020304" pitchFamily="18" charset="0"/>
            </a:endParaRPr>
          </a:p>
          <a:p>
            <a:pPr algn="just"/>
            <a:endParaRPr lang="en-US" sz="4000" dirty="0">
              <a:latin typeface="Times New Roman" panose="02020603050405020304" pitchFamily="18" charset="0"/>
              <a:cs typeface="Times New Roman" panose="02020603050405020304" pitchFamily="18" charset="0"/>
            </a:endParaRPr>
          </a:p>
        </p:txBody>
      </p:sp>
      <p:sp>
        <p:nvSpPr>
          <p:cNvPr id="34" name="Rectangle 33">
            <a:extLst>
              <a:ext uri="{FF2B5EF4-FFF2-40B4-BE49-F238E27FC236}">
                <a16:creationId xmlns:a16="http://schemas.microsoft.com/office/drawing/2014/main" id="{1FEA188A-5C65-4503-BD05-D591C47F2388}"/>
              </a:ext>
            </a:extLst>
          </p:cNvPr>
          <p:cNvSpPr/>
          <p:nvPr/>
        </p:nvSpPr>
        <p:spPr>
          <a:xfrm>
            <a:off x="13784036" y="34894678"/>
            <a:ext cx="15902805" cy="3416320"/>
          </a:xfrm>
          <a:prstGeom prst="rect">
            <a:avLst/>
          </a:prstGeom>
          <a:gradFill flip="none" rotWithShape="1">
            <a:gsLst>
              <a:gs pos="0">
                <a:srgbClr val="F1F7EA"/>
              </a:gs>
              <a:gs pos="100000">
                <a:srgbClr val="C8DDB2"/>
              </a:gs>
            </a:gsLst>
            <a:lin ang="5400000" scaled="1"/>
            <a:tileRect/>
          </a:gradFill>
          <a:ln>
            <a:solidFill>
              <a:schemeClr val="accent1">
                <a:lumMod val="50000"/>
              </a:schemeClr>
            </a:solidFill>
          </a:ln>
        </p:spPr>
        <p:style>
          <a:lnRef idx="1">
            <a:schemeClr val="accent3"/>
          </a:lnRef>
          <a:fillRef idx="2">
            <a:schemeClr val="accent3"/>
          </a:fillRef>
          <a:effectRef idx="1">
            <a:schemeClr val="accent3"/>
          </a:effectRef>
          <a:fontRef idx="minor">
            <a:schemeClr val="dk1"/>
          </a:fontRef>
        </p:style>
        <p:txBody>
          <a:bodyPr wrap="square">
            <a:spAutoFit/>
          </a:bodyPr>
          <a:lstStyle/>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Genetic diversity analysis revealed sufficient diversity among the evaluated cowpea genotypes for effective parent selection.</a:t>
            </a:r>
          </a:p>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Genotypes from Clusters I and IV would serve as promising  parents for hybridization to obtain superior </a:t>
            </a:r>
            <a:r>
              <a:rPr lang="en-US" sz="3600" dirty="0" err="1">
                <a:latin typeface="Times New Roman" panose="02020603050405020304" pitchFamily="18" charset="0"/>
                <a:cs typeface="Times New Roman" panose="02020603050405020304" pitchFamily="18" charset="0"/>
              </a:rPr>
              <a:t>transgressive</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segregants</a:t>
            </a:r>
            <a:r>
              <a:rPr lang="en-US" sz="3600" dirty="0">
                <a:latin typeface="Times New Roman" panose="02020603050405020304" pitchFamily="18" charset="0"/>
                <a:cs typeface="Times New Roman" panose="02020603050405020304" pitchFamily="18" charset="0"/>
              </a:rPr>
              <a:t>.</a:t>
            </a:r>
          </a:p>
          <a:p>
            <a:pPr marL="457200" indent="-457200" algn="just" defTabSz="394545">
              <a:buFont typeface="Wingdings" panose="05000000000000000000" pitchFamily="2" charset="2"/>
              <a:buChar char="Ø"/>
              <a:tabLst>
                <a:tab pos="7117690" algn="l"/>
              </a:tabLst>
            </a:pPr>
            <a:r>
              <a:rPr lang="en-US" sz="3600" dirty="0">
                <a:latin typeface="Times New Roman" panose="02020603050405020304" pitchFamily="18" charset="0"/>
                <a:cs typeface="Times New Roman" panose="02020603050405020304" pitchFamily="18" charset="0"/>
              </a:rPr>
              <a:t>PCA successfully identified the key traits contributing to genetic divergence, facilitating efficient </a:t>
            </a:r>
            <a:r>
              <a:rPr lang="en-US" sz="3600" dirty="0" err="1">
                <a:latin typeface="Times New Roman" panose="02020603050405020304" pitchFamily="18" charset="0"/>
                <a:cs typeface="Times New Roman" panose="02020603050405020304" pitchFamily="18" charset="0"/>
              </a:rPr>
              <a:t>germplasm</a:t>
            </a:r>
            <a:r>
              <a:rPr lang="en-US" sz="3600" dirty="0">
                <a:latin typeface="Times New Roman" panose="02020603050405020304" pitchFamily="18" charset="0"/>
                <a:cs typeface="Times New Roman" panose="02020603050405020304" pitchFamily="18" charset="0"/>
              </a:rPr>
              <a:t> characterization. </a:t>
            </a:r>
            <a:endParaRPr lang="en-IN" sz="3600" b="1" dirty="0">
              <a:latin typeface="Times New Roman" panose="02020603050405020304" pitchFamily="18" charset="0"/>
              <a:cs typeface="Times New Roman" panose="02020603050405020304" pitchFamily="18" charset="0"/>
            </a:endParaRPr>
          </a:p>
        </p:txBody>
      </p:sp>
      <p:sp>
        <p:nvSpPr>
          <p:cNvPr id="46" name="TextBox 45">
            <a:extLst>
              <a:ext uri="{FF2B5EF4-FFF2-40B4-BE49-F238E27FC236}">
                <a16:creationId xmlns:a16="http://schemas.microsoft.com/office/drawing/2014/main" id="{46398BBB-02E9-46E7-BA4F-6422493E7698}"/>
              </a:ext>
            </a:extLst>
          </p:cNvPr>
          <p:cNvSpPr txBox="1"/>
          <p:nvPr/>
        </p:nvSpPr>
        <p:spPr>
          <a:xfrm>
            <a:off x="0" y="183865"/>
            <a:ext cx="30178375" cy="5541197"/>
          </a:xfrm>
          <a:prstGeom prst="rect">
            <a:avLst/>
          </a:prstGeom>
          <a:solidFill>
            <a:srgbClr val="1B4332"/>
          </a:solidFill>
        </p:spPr>
        <p:style>
          <a:lnRef idx="1">
            <a:schemeClr val="accent6"/>
          </a:lnRef>
          <a:fillRef idx="2">
            <a:schemeClr val="accent6"/>
          </a:fillRef>
          <a:effectRef idx="1">
            <a:schemeClr val="accent6"/>
          </a:effectRef>
          <a:fontRef idx="minor">
            <a:schemeClr val="dk1"/>
          </a:fontRef>
        </p:style>
        <p:txBody>
          <a:bodyPr wrap="square">
            <a:spAutoFit/>
          </a:bodyPr>
          <a:lstStyle/>
          <a:p>
            <a:pPr>
              <a:lnSpc>
                <a:spcPct val="107000"/>
              </a:lnSpc>
              <a:spcAft>
                <a:spcPts val="800"/>
              </a:spcAft>
            </a:pPr>
            <a:r>
              <a:rPr lang="en-IN" sz="5400" b="1" dirty="0" smtClean="0">
                <a:solidFill>
                  <a:schemeClr val="bg1"/>
                </a:solidFill>
                <a:latin typeface="Times New Roman" panose="02020603050405020304" pitchFamily="18" charset="0"/>
                <a:cs typeface="Times New Roman" panose="02020603050405020304" pitchFamily="18" charset="0"/>
              </a:rPr>
              <a:t>Study on Genetic Diversity and Principal Component Analysis for Grain Yield and </a:t>
            </a:r>
            <a:r>
              <a:rPr lang="en-IN" sz="5400" b="1" dirty="0" err="1" smtClean="0">
                <a:solidFill>
                  <a:schemeClr val="bg1"/>
                </a:solidFill>
                <a:latin typeface="Times New Roman" panose="02020603050405020304" pitchFamily="18" charset="0"/>
                <a:cs typeface="Times New Roman" panose="02020603050405020304" pitchFamily="18" charset="0"/>
              </a:rPr>
              <a:t>Qunatitative</a:t>
            </a:r>
            <a:r>
              <a:rPr lang="en-IN" sz="5400" b="1" dirty="0" smtClean="0">
                <a:solidFill>
                  <a:schemeClr val="bg1"/>
                </a:solidFill>
                <a:latin typeface="Times New Roman" panose="02020603050405020304" pitchFamily="18" charset="0"/>
                <a:cs typeface="Times New Roman" panose="02020603050405020304" pitchFamily="18" charset="0"/>
              </a:rPr>
              <a:t> Traits </a:t>
            </a:r>
          </a:p>
          <a:p>
            <a:pPr>
              <a:lnSpc>
                <a:spcPct val="107000"/>
              </a:lnSpc>
              <a:spcAft>
                <a:spcPts val="800"/>
              </a:spcAft>
            </a:pPr>
            <a:r>
              <a:rPr lang="en-IN" sz="5400" b="1" dirty="0" smtClean="0">
                <a:solidFill>
                  <a:schemeClr val="bg1"/>
                </a:solidFill>
                <a:latin typeface="Times New Roman" panose="02020603050405020304" pitchFamily="18" charset="0"/>
                <a:cs typeface="Times New Roman" panose="02020603050405020304" pitchFamily="18" charset="0"/>
              </a:rPr>
              <a:t>                                                        in Cowpea </a:t>
            </a:r>
            <a:r>
              <a:rPr lang="en-US" sz="5400" b="1" dirty="0" smtClean="0">
                <a:solidFill>
                  <a:schemeClr val="bg1"/>
                </a:solidFill>
                <a:latin typeface="Times New Roman" panose="02020603050405020304" pitchFamily="18" charset="0"/>
                <a:cs typeface="Times New Roman" panose="02020603050405020304" pitchFamily="18" charset="0"/>
              </a:rPr>
              <a:t>(</a:t>
            </a:r>
            <a:r>
              <a:rPr lang="en-US" sz="5400" b="1" i="1" dirty="0" smtClean="0">
                <a:solidFill>
                  <a:schemeClr val="bg1"/>
                </a:solidFill>
                <a:latin typeface="Times New Roman" panose="02020603050405020304" pitchFamily="18" charset="0"/>
                <a:cs typeface="Times New Roman" panose="02020603050405020304" pitchFamily="18" charset="0"/>
              </a:rPr>
              <a:t>Vigna </a:t>
            </a:r>
            <a:r>
              <a:rPr lang="en-US" sz="5400" b="1" i="1" dirty="0" smtClean="0">
                <a:solidFill>
                  <a:schemeClr val="bg1"/>
                </a:solidFill>
                <a:latin typeface="Times New Roman" panose="02020603050405020304" pitchFamily="18" charset="0"/>
                <a:cs typeface="Times New Roman" panose="02020603050405020304" pitchFamily="18" charset="0"/>
              </a:rPr>
              <a:t>unguiculata </a:t>
            </a:r>
            <a:r>
              <a:rPr lang="en-US" sz="5400" b="1" dirty="0" smtClean="0">
                <a:solidFill>
                  <a:schemeClr val="bg1"/>
                </a:solidFill>
                <a:latin typeface="Times New Roman" panose="02020603050405020304" pitchFamily="18" charset="0"/>
                <a:cs typeface="Times New Roman" panose="02020603050405020304" pitchFamily="18" charset="0"/>
              </a:rPr>
              <a:t>L</a:t>
            </a:r>
            <a:r>
              <a:rPr lang="en-US" sz="5400" b="1" i="1" dirty="0" smtClean="0">
                <a:solidFill>
                  <a:schemeClr val="bg1"/>
                </a:solidFill>
                <a:latin typeface="Times New Roman" panose="02020603050405020304" pitchFamily="18" charset="0"/>
                <a:cs typeface="Times New Roman" panose="02020603050405020304" pitchFamily="18" charset="0"/>
              </a:rPr>
              <a:t>.</a:t>
            </a:r>
            <a:r>
              <a:rPr lang="en-US" sz="5400" b="1" dirty="0" smtClean="0">
                <a:solidFill>
                  <a:schemeClr val="bg1"/>
                </a:solidFill>
                <a:latin typeface="Times New Roman" panose="02020603050405020304" pitchFamily="18" charset="0"/>
                <a:cs typeface="Times New Roman" panose="02020603050405020304" pitchFamily="18" charset="0"/>
              </a:rPr>
              <a:t>)</a:t>
            </a:r>
            <a:endParaRPr lang="en-IN" sz="5400" dirty="0">
              <a:solidFill>
                <a:schemeClr val="bg1"/>
              </a:solidFill>
              <a:latin typeface="Times New Roman" panose="02020603050405020304" pitchFamily="18" charset="0"/>
              <a:cs typeface="Times New Roman" panose="02020603050405020304" pitchFamily="18" charset="0"/>
            </a:endParaRPr>
          </a:p>
          <a:p>
            <a:pPr>
              <a:lnSpc>
                <a:spcPct val="107000"/>
              </a:lnSpc>
              <a:spcAft>
                <a:spcPts val="800"/>
              </a:spcAft>
            </a:pPr>
            <a:r>
              <a:rPr lang="en-IN" sz="5400" b="1" dirty="0" smtClean="0">
                <a:solidFill>
                  <a:schemeClr val="bg1"/>
                </a:solidFill>
                <a:latin typeface="Times New Roman" panose="02020603050405020304" pitchFamily="18" charset="0"/>
                <a:cs typeface="Times New Roman" panose="02020603050405020304" pitchFamily="18" charset="0"/>
              </a:rPr>
              <a:t>                                                                   </a:t>
            </a:r>
            <a:r>
              <a:rPr lang="en-US" sz="4800" b="1" i="1" dirty="0" smtClean="0">
                <a:solidFill>
                  <a:schemeClr val="bg1"/>
                </a:solidFill>
                <a:latin typeface="Times New Roman" panose="02020603050405020304" pitchFamily="18" charset="0"/>
                <a:cs typeface="Times New Roman" panose="02020603050405020304" pitchFamily="18" charset="0"/>
              </a:rPr>
              <a:t>Author :</a:t>
            </a:r>
            <a:r>
              <a:rPr lang="en-US" sz="4800" b="1" dirty="0" smtClean="0">
                <a:solidFill>
                  <a:schemeClr val="bg1"/>
                </a:solidFill>
                <a:latin typeface="Times New Roman" panose="02020603050405020304" pitchFamily="18" charset="0"/>
                <a:cs typeface="Times New Roman" panose="02020603050405020304" pitchFamily="18" charset="0"/>
              </a:rPr>
              <a:t> </a:t>
            </a:r>
            <a:r>
              <a:rPr lang="en-US" sz="4800" b="1" dirty="0" smtClean="0">
                <a:solidFill>
                  <a:schemeClr val="bg1"/>
                </a:solidFill>
                <a:latin typeface="Times New Roman" panose="02020603050405020304" pitchFamily="18" charset="0"/>
                <a:cs typeface="Times New Roman" panose="02020603050405020304" pitchFamily="18" charset="0"/>
              </a:rPr>
              <a:t>Pooja J.N</a:t>
            </a:r>
            <a:br>
              <a:rPr lang="en-US" sz="4800" b="1" dirty="0" smtClean="0">
                <a:solidFill>
                  <a:schemeClr val="bg1"/>
                </a:solidFill>
                <a:latin typeface="Times New Roman" panose="02020603050405020304" pitchFamily="18" charset="0"/>
                <a:cs typeface="Times New Roman" panose="02020603050405020304" pitchFamily="18" charset="0"/>
              </a:rPr>
            </a:br>
            <a:r>
              <a:rPr lang="en-US" sz="4800" b="1" i="1" dirty="0" smtClean="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IN" sz="4800" b="1" i="1" dirty="0" smtClean="0">
                <a:solidFill>
                  <a:schemeClr val="bg1"/>
                </a:solidFill>
                <a:effectLst/>
                <a:latin typeface="Times New Roman" panose="02020603050405020304" pitchFamily="18" charset="0"/>
                <a:ea typeface="Calibri" panose="020F0502020204030204" pitchFamily="34" charset="0"/>
              </a:rPr>
              <a:t>Department of Genetics and Plant Breeding, College of Agriculture, </a:t>
            </a:r>
            <a:r>
              <a:rPr lang="en-IN" sz="4800" b="1" i="1" dirty="0" smtClean="0">
                <a:solidFill>
                  <a:schemeClr val="bg1"/>
                </a:solidFill>
                <a:latin typeface="Times New Roman" panose="02020603050405020304" pitchFamily="18" charset="0"/>
                <a:ea typeface="Calibri" panose="020F0502020204030204" pitchFamily="34" charset="0"/>
              </a:rPr>
              <a:t>Raichur</a:t>
            </a:r>
          </a:p>
          <a:p>
            <a:pPr>
              <a:lnSpc>
                <a:spcPct val="107000"/>
              </a:lnSpc>
              <a:spcAft>
                <a:spcPts val="800"/>
              </a:spcAft>
            </a:pPr>
            <a:r>
              <a:rPr lang="en-IN" sz="4800" b="1" i="1" dirty="0" smtClean="0">
                <a:solidFill>
                  <a:schemeClr val="bg1"/>
                </a:solidFill>
                <a:effectLst/>
                <a:latin typeface="Times New Roman" panose="02020603050405020304" pitchFamily="18" charset="0"/>
                <a:ea typeface="Calibri" panose="020F0502020204030204" pitchFamily="34" charset="0"/>
              </a:rPr>
              <a:t>                                                    </a:t>
            </a:r>
            <a:r>
              <a:rPr lang="en-IN" sz="4800" b="1" i="1" dirty="0" smtClean="0">
                <a:solidFill>
                  <a:schemeClr val="bg1"/>
                </a:solidFill>
                <a:effectLst/>
                <a:latin typeface="Times New Roman" panose="02020603050405020304" pitchFamily="18" charset="0"/>
                <a:ea typeface="Calibri" panose="020F0502020204030204" pitchFamily="34" charset="0"/>
              </a:rPr>
              <a:t>University of Agricultural Sciences, Raichur.</a:t>
            </a:r>
          </a:p>
          <a:p>
            <a:pPr>
              <a:lnSpc>
                <a:spcPct val="107000"/>
              </a:lnSpc>
              <a:spcAft>
                <a:spcPts val="800"/>
              </a:spcAft>
            </a:pPr>
            <a:r>
              <a:rPr lang="en-IN" sz="4800" b="1" i="1" dirty="0">
                <a:solidFill>
                  <a:schemeClr val="bg1"/>
                </a:solidFill>
                <a:latin typeface="Times New Roman" panose="02020603050405020304" pitchFamily="18" charset="0"/>
                <a:ea typeface="Calibri" panose="020F0502020204030204" pitchFamily="34" charset="0"/>
                <a:cs typeface="Times New Roman" pitchFamily="18" charset="0"/>
              </a:rPr>
              <a:t> </a:t>
            </a:r>
            <a:r>
              <a:rPr lang="en-IN" sz="4800" b="1" i="1" dirty="0" smtClean="0">
                <a:solidFill>
                  <a:schemeClr val="bg1"/>
                </a:solidFill>
                <a:latin typeface="Times New Roman" panose="02020603050405020304" pitchFamily="18" charset="0"/>
                <a:ea typeface="Calibri" panose="020F0502020204030204" pitchFamily="34" charset="0"/>
                <a:cs typeface="Times New Roman" pitchFamily="18" charset="0"/>
              </a:rPr>
              <a:t>                                                      </a:t>
            </a:r>
            <a:r>
              <a:rPr lang="en-US" sz="4400" b="1" i="1" dirty="0" smtClean="0">
                <a:solidFill>
                  <a:schemeClr val="bg1"/>
                </a:solidFill>
                <a:latin typeface="Times New Roman" pitchFamily="18" charset="0"/>
                <a:cs typeface="Times New Roman" pitchFamily="18" charset="0"/>
              </a:rPr>
              <a:t>Email </a:t>
            </a:r>
            <a:r>
              <a:rPr lang="en-US" sz="4400" b="1" i="1" dirty="0" smtClean="0">
                <a:solidFill>
                  <a:schemeClr val="bg1"/>
                </a:solidFill>
                <a:latin typeface="Times New Roman" pitchFamily="18" charset="0"/>
                <a:cs typeface="Times New Roman" pitchFamily="18" charset="0"/>
              </a:rPr>
              <a:t>I.D</a:t>
            </a:r>
            <a:r>
              <a:rPr lang="en-US" sz="4400" b="1" i="1" dirty="0">
                <a:solidFill>
                  <a:schemeClr val="bg1"/>
                </a:solidFill>
                <a:latin typeface="Times New Roman" pitchFamily="18" charset="0"/>
                <a:cs typeface="Times New Roman" pitchFamily="18" charset="0"/>
              </a:rPr>
              <a:t>: </a:t>
            </a:r>
            <a:r>
              <a:rPr lang="en-US" sz="4400" b="1" dirty="0" smtClean="0">
                <a:solidFill>
                  <a:schemeClr val="bg1"/>
                </a:solidFill>
                <a:latin typeface="Times New Roman" pitchFamily="18" charset="0"/>
                <a:cs typeface="Times New Roman" pitchFamily="18" charset="0"/>
              </a:rPr>
              <a:t>poojajn16077@uasraichur.edu.in</a:t>
            </a:r>
            <a:endParaRPr lang="en-US" sz="4400" b="1" dirty="0">
              <a:solidFill>
                <a:schemeClr val="bg1"/>
              </a:solidFill>
              <a:latin typeface="Times New Roman" pitchFamily="18" charset="0"/>
              <a:cs typeface="Times New Roman" pitchFamily="18" charset="0"/>
            </a:endParaRPr>
          </a:p>
        </p:txBody>
      </p:sp>
      <p:sp>
        <p:nvSpPr>
          <p:cNvPr id="2" name="Rectangle 1">
            <a:extLst>
              <a:ext uri="{FF2B5EF4-FFF2-40B4-BE49-F238E27FC236}">
                <a16:creationId xmlns:a16="http://schemas.microsoft.com/office/drawing/2014/main" id="{A369E6C0-FDF7-41AE-B7B9-E66B45D08924}"/>
              </a:ext>
            </a:extLst>
          </p:cNvPr>
          <p:cNvSpPr/>
          <p:nvPr/>
        </p:nvSpPr>
        <p:spPr>
          <a:xfrm>
            <a:off x="357172" y="6228567"/>
            <a:ext cx="13373675" cy="903874"/>
          </a:xfrm>
          <a:prstGeom prst="rect">
            <a:avLst/>
          </a:prstGeom>
          <a:solidFill>
            <a:srgbClr val="1B43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en-US" sz="4400" b="1" i="0" u="none" strike="noStrike" kern="1200" cap="none" spc="0" normalizeH="0" baseline="0" noProof="0" dirty="0">
                <a:ln>
                  <a:noFill/>
                </a:ln>
                <a:solidFill>
                  <a:prstClr val="white"/>
                </a:solidFill>
                <a:effectLst/>
                <a:uLnTx/>
                <a:uFillTx/>
                <a:latin typeface="Times New Roman" pitchFamily="18" charset="0"/>
                <a:ea typeface="+mn-ea"/>
                <a:cs typeface="Times New Roman" pitchFamily="18" charset="0"/>
              </a:rPr>
              <a:t>INTRODUCTION</a:t>
            </a:r>
            <a:endParaRPr lang="en-IN" dirty="0"/>
          </a:p>
        </p:txBody>
      </p:sp>
      <p:sp>
        <p:nvSpPr>
          <p:cNvPr id="48" name="Rectangle 47">
            <a:extLst>
              <a:ext uri="{FF2B5EF4-FFF2-40B4-BE49-F238E27FC236}">
                <a16:creationId xmlns:a16="http://schemas.microsoft.com/office/drawing/2014/main" id="{5397A207-A7CB-4C9F-927F-58A348508B3A}"/>
              </a:ext>
            </a:extLst>
          </p:cNvPr>
          <p:cNvSpPr/>
          <p:nvPr/>
        </p:nvSpPr>
        <p:spPr>
          <a:xfrm>
            <a:off x="314644" y="26361052"/>
            <a:ext cx="13371772" cy="848199"/>
          </a:xfrm>
          <a:prstGeom prst="rect">
            <a:avLst/>
          </a:prstGeom>
          <a:solidFill>
            <a:srgbClr val="1B43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bg1"/>
                </a:solidFill>
                <a:latin typeface="Times New Roman" pitchFamily="18" charset="0"/>
                <a:cs typeface="Times New Roman" pitchFamily="18" charset="0"/>
              </a:rPr>
              <a:t>RESULTS AND DISCUSSION</a:t>
            </a:r>
          </a:p>
        </p:txBody>
      </p:sp>
      <p:sp>
        <p:nvSpPr>
          <p:cNvPr id="52" name="Rectangle 51">
            <a:extLst>
              <a:ext uri="{FF2B5EF4-FFF2-40B4-BE49-F238E27FC236}">
                <a16:creationId xmlns:a16="http://schemas.microsoft.com/office/drawing/2014/main" id="{84FB02FC-71B2-4410-826C-DB27CF24083B}"/>
              </a:ext>
            </a:extLst>
          </p:cNvPr>
          <p:cNvSpPr/>
          <p:nvPr/>
        </p:nvSpPr>
        <p:spPr>
          <a:xfrm>
            <a:off x="13784036" y="34360643"/>
            <a:ext cx="15973819" cy="508207"/>
          </a:xfrm>
          <a:prstGeom prst="rect">
            <a:avLst/>
          </a:prstGeom>
          <a:solidFill>
            <a:srgbClr val="1B43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latin typeface="Times New Roman" panose="02020603050405020304" pitchFamily="18" charset="0"/>
                <a:cs typeface="Times New Roman" panose="02020603050405020304" pitchFamily="18" charset="0"/>
              </a:rPr>
              <a:t>CONCLUSION</a:t>
            </a:r>
          </a:p>
        </p:txBody>
      </p:sp>
      <p:sp>
        <p:nvSpPr>
          <p:cNvPr id="28" name="Rectangle 27">
            <a:extLst>
              <a:ext uri="{FF2B5EF4-FFF2-40B4-BE49-F238E27FC236}">
                <a16:creationId xmlns:a16="http://schemas.microsoft.com/office/drawing/2014/main" id="{84FB02FC-71B2-4410-826C-DB27CF24083B}"/>
              </a:ext>
            </a:extLst>
          </p:cNvPr>
          <p:cNvSpPr/>
          <p:nvPr/>
        </p:nvSpPr>
        <p:spPr>
          <a:xfrm>
            <a:off x="13795812" y="38330961"/>
            <a:ext cx="15877913" cy="654487"/>
          </a:xfrm>
          <a:prstGeom prst="rect">
            <a:avLst/>
          </a:prstGeom>
          <a:solidFill>
            <a:srgbClr val="1B43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smtClean="0">
                <a:latin typeface="Times New Roman" panose="02020603050405020304" pitchFamily="18" charset="0"/>
                <a:cs typeface="Times New Roman" panose="02020603050405020304" pitchFamily="18" charset="0"/>
              </a:rPr>
              <a:t>REFERENCES</a:t>
            </a:r>
            <a:endParaRPr lang="en-US" sz="4400" b="1" dirty="0">
              <a:latin typeface="Times New Roman" panose="02020603050405020304" pitchFamily="18" charset="0"/>
              <a:cs typeface="Times New Roman" panose="02020603050405020304" pitchFamily="18" charset="0"/>
            </a:endParaRPr>
          </a:p>
        </p:txBody>
      </p:sp>
      <p:pic>
        <p:nvPicPr>
          <p:cNvPr id="31" name="Picture 30" descr="University Logo"/>
          <p:cNvPicPr/>
          <p:nvPr/>
        </p:nvPicPr>
        <p:blipFill>
          <a:blip r:embed="rId2">
            <a:extLst>
              <a:ext uri="{28A0092B-C50C-407E-A947-70E740481C1C}">
                <a14:useLocalDpi xmlns:a14="http://schemas.microsoft.com/office/drawing/2010/main" val="0"/>
              </a:ext>
            </a:extLst>
          </a:blip>
          <a:srcRect/>
          <a:stretch>
            <a:fillRect/>
          </a:stretch>
        </p:blipFill>
        <p:spPr bwMode="auto">
          <a:xfrm>
            <a:off x="313130" y="1565233"/>
            <a:ext cx="3173069" cy="3825490"/>
          </a:xfrm>
          <a:prstGeom prst="rect">
            <a:avLst/>
          </a:prstGeom>
          <a:noFill/>
          <a:ln>
            <a:noFill/>
          </a:ln>
        </p:spPr>
      </p:pic>
      <p:pic>
        <p:nvPicPr>
          <p:cNvPr id="33" name="Picture 32"/>
          <p:cNvPicPr/>
          <p:nvPr/>
        </p:nvPicPr>
        <p:blipFill rotWithShape="1">
          <a:blip r:embed="rId3">
            <a:extLst>
              <a:ext uri="{28A0092B-C50C-407E-A947-70E740481C1C}">
                <a14:useLocalDpi xmlns:a14="http://schemas.microsoft.com/office/drawing/2010/main" val="0"/>
              </a:ext>
            </a:extLst>
          </a:blip>
          <a:srcRect t="9474" r="-3227"/>
          <a:stretch/>
        </p:blipFill>
        <p:spPr bwMode="auto">
          <a:xfrm>
            <a:off x="23989553" y="1461002"/>
            <a:ext cx="3132131" cy="3740670"/>
          </a:xfrm>
          <a:prstGeom prst="rect">
            <a:avLst/>
          </a:prstGeom>
          <a:noFill/>
          <a:ln>
            <a:noFill/>
          </a:ln>
        </p:spPr>
      </p:pic>
      <p:pic>
        <p:nvPicPr>
          <p:cNvPr id="5" name="Picture 4"/>
          <p:cNvPicPr>
            <a:picLocks noChangeAspect="1"/>
          </p:cNvPicPr>
          <p:nvPr/>
        </p:nvPicPr>
        <p:blipFill rotWithShape="1">
          <a:blip r:embed="rId4" cstate="print">
            <a:extLst>
              <a:ext uri="{28A0092B-C50C-407E-A947-70E740481C1C}">
                <a14:useLocalDpi xmlns:a14="http://schemas.microsoft.com/office/drawing/2010/main" val="0"/>
              </a:ext>
            </a:extLst>
          </a:blip>
          <a:srcRect l="17263" t="7463" r="33459" b="46897"/>
          <a:stretch/>
        </p:blipFill>
        <p:spPr>
          <a:xfrm>
            <a:off x="27339403" y="1479450"/>
            <a:ext cx="2591094" cy="3722221"/>
          </a:xfrm>
          <a:prstGeom prst="rect">
            <a:avLst/>
          </a:prstGeom>
        </p:spPr>
      </p:pic>
      <p:sp>
        <p:nvSpPr>
          <p:cNvPr id="6" name="Rectangle 5"/>
          <p:cNvSpPr/>
          <p:nvPr/>
        </p:nvSpPr>
        <p:spPr>
          <a:xfrm>
            <a:off x="340516" y="16176886"/>
            <a:ext cx="13479935" cy="2308324"/>
          </a:xfrm>
          <a:prstGeom prst="rect">
            <a:avLst/>
          </a:prstGeom>
          <a:solidFill>
            <a:srgbClr val="FFF6DA"/>
          </a:solidFill>
          <a:ln>
            <a:solidFill>
              <a:schemeClr val="tx1"/>
            </a:solidFill>
          </a:ln>
        </p:spPr>
        <p:txBody>
          <a:bodyPr wrap="square">
            <a:spAutoFit/>
          </a:bodyPr>
          <a:lstStyle/>
          <a:p>
            <a:pPr marL="457200" indent="-457200" algn="just" defTabSz="394545">
              <a:buFont typeface="Wingdings" panose="05000000000000000000" pitchFamily="2" charset="2"/>
              <a:buChar char="Ø"/>
              <a:tabLst>
                <a:tab pos="7117690" algn="l"/>
              </a:tabLst>
            </a:pPr>
            <a:r>
              <a:rPr lang="en-IN" sz="3600" dirty="0" smtClean="0">
                <a:latin typeface="Times New Roman" panose="02020603050405020304" pitchFamily="18" charset="0"/>
                <a:cs typeface="Times New Roman" panose="02020603050405020304" pitchFamily="18" charset="0"/>
              </a:rPr>
              <a:t>To </a:t>
            </a:r>
            <a:r>
              <a:rPr lang="en-IN" sz="3600" dirty="0">
                <a:latin typeface="Times New Roman" panose="02020603050405020304" pitchFamily="18" charset="0"/>
                <a:cs typeface="Times New Roman" panose="02020603050405020304" pitchFamily="18" charset="0"/>
              </a:rPr>
              <a:t>study genetic diversity and principal component analysis in cowpea for grain yield and its attributing traits</a:t>
            </a:r>
            <a:r>
              <a:rPr lang="en-IN" sz="3600" dirty="0" smtClean="0">
                <a:latin typeface="Times New Roman" panose="02020603050405020304" pitchFamily="18" charset="0"/>
                <a:cs typeface="Times New Roman" panose="02020603050405020304" pitchFamily="18" charset="0"/>
              </a:rPr>
              <a:t>.</a:t>
            </a:r>
          </a:p>
          <a:p>
            <a:pPr marL="457200" indent="-457200" algn="just" defTabSz="394545">
              <a:buFont typeface="Wingdings" panose="05000000000000000000" pitchFamily="2" charset="2"/>
              <a:buChar char="Ø"/>
              <a:tabLst>
                <a:tab pos="7117690" algn="l"/>
              </a:tabLst>
            </a:pPr>
            <a:endParaRPr lang="en-IN" sz="3600" dirty="0" smtClean="0">
              <a:latin typeface="Times New Roman" panose="02020603050405020304" pitchFamily="18" charset="0"/>
              <a:cs typeface="Times New Roman" panose="02020603050405020304" pitchFamily="18" charset="0"/>
            </a:endParaRPr>
          </a:p>
          <a:p>
            <a:pPr marL="457200" indent="-457200" algn="just" defTabSz="394545">
              <a:buFont typeface="Wingdings" panose="05000000000000000000" pitchFamily="2" charset="2"/>
              <a:buChar char="Ø"/>
              <a:tabLst>
                <a:tab pos="7117690" algn="l"/>
              </a:tabLst>
            </a:pPr>
            <a:endParaRPr lang="en-IN" sz="3600" dirty="0">
              <a:latin typeface="Times New Roman" panose="02020603050405020304" pitchFamily="18" charset="0"/>
              <a:cs typeface="Times New Roman" panose="02020603050405020304" pitchFamily="18" charset="0"/>
            </a:endParaRPr>
          </a:p>
        </p:txBody>
      </p:sp>
      <p:sp>
        <p:nvSpPr>
          <p:cNvPr id="36" name="Rectangle 35"/>
          <p:cNvSpPr/>
          <p:nvPr/>
        </p:nvSpPr>
        <p:spPr>
          <a:xfrm>
            <a:off x="13767245" y="6199536"/>
            <a:ext cx="15973613" cy="1200329"/>
          </a:xfrm>
          <a:prstGeom prst="rect">
            <a:avLst/>
          </a:prstGeom>
          <a:solidFill>
            <a:srgbClr val="1B4332"/>
          </a:solidFill>
        </p:spPr>
        <p:txBody>
          <a:bodyPr wrap="square">
            <a:spAutoFit/>
          </a:bodyPr>
          <a:lstStyle/>
          <a:p>
            <a:pPr algn="ctr"/>
            <a:r>
              <a:rPr lang="en-IN" sz="3600" b="1" dirty="0">
                <a:solidFill>
                  <a:schemeClr val="bg1"/>
                </a:solidFill>
                <a:latin typeface="Times New Roman" panose="02020603050405020304" pitchFamily="18" charset="0"/>
                <a:ea typeface="Calibri" panose="020F0502020204030204" pitchFamily="34" charset="0"/>
              </a:rPr>
              <a:t>Table </a:t>
            </a:r>
            <a:r>
              <a:rPr lang="en-IN" sz="3600" b="1" dirty="0" smtClean="0">
                <a:solidFill>
                  <a:schemeClr val="bg1"/>
                </a:solidFill>
                <a:latin typeface="Times New Roman" panose="02020603050405020304" pitchFamily="18" charset="0"/>
                <a:ea typeface="Calibri" panose="020F0502020204030204" pitchFamily="34" charset="0"/>
              </a:rPr>
              <a:t>1: </a:t>
            </a:r>
            <a:r>
              <a:rPr lang="en-US" sz="3600" b="1" dirty="0">
                <a:solidFill>
                  <a:schemeClr val="bg1"/>
                </a:solidFill>
                <a:latin typeface="Times New Roman" panose="02020603050405020304" pitchFamily="18" charset="0"/>
                <a:cs typeface="Times New Roman" panose="02020603050405020304" pitchFamily="18" charset="0"/>
              </a:rPr>
              <a:t>Average inter and </a:t>
            </a:r>
            <a:r>
              <a:rPr lang="en-US" sz="3600" b="1" dirty="0" smtClean="0">
                <a:solidFill>
                  <a:schemeClr val="bg1"/>
                </a:solidFill>
                <a:latin typeface="Times New Roman" panose="02020603050405020304" pitchFamily="18" charset="0"/>
                <a:cs typeface="Times New Roman" panose="02020603050405020304" pitchFamily="18" charset="0"/>
              </a:rPr>
              <a:t>intra(bold) </a:t>
            </a:r>
            <a:r>
              <a:rPr lang="en-US" sz="3600" b="1" dirty="0">
                <a:solidFill>
                  <a:schemeClr val="bg1"/>
                </a:solidFill>
                <a:latin typeface="Times New Roman" panose="02020603050405020304" pitchFamily="18" charset="0"/>
                <a:cs typeface="Times New Roman" panose="02020603050405020304" pitchFamily="18" charset="0"/>
              </a:rPr>
              <a:t>cluster </a:t>
            </a:r>
            <a:r>
              <a:rPr lang="en-US" sz="3600" b="1" dirty="0" smtClean="0">
                <a:solidFill>
                  <a:schemeClr val="bg1"/>
                </a:solidFill>
                <a:latin typeface="Times New Roman" panose="02020603050405020304" pitchFamily="18" charset="0"/>
                <a:cs typeface="Times New Roman" panose="02020603050405020304" pitchFamily="18" charset="0"/>
              </a:rPr>
              <a:t>values </a:t>
            </a:r>
            <a:r>
              <a:rPr lang="en-US" sz="3600" b="1" dirty="0">
                <a:solidFill>
                  <a:schemeClr val="bg1"/>
                </a:solidFill>
                <a:latin typeface="Times New Roman" panose="02020603050405020304" pitchFamily="18" charset="0"/>
                <a:cs typeface="Times New Roman" panose="02020603050405020304" pitchFamily="18" charset="0"/>
              </a:rPr>
              <a:t>in cowpea genotypes based on seed yield and its attributing </a:t>
            </a:r>
            <a:r>
              <a:rPr lang="en-US" sz="3600" b="1" dirty="0" smtClean="0">
                <a:solidFill>
                  <a:schemeClr val="bg1"/>
                </a:solidFill>
                <a:latin typeface="Times New Roman" panose="02020603050405020304" pitchFamily="18" charset="0"/>
                <a:cs typeface="Times New Roman" panose="02020603050405020304" pitchFamily="18" charset="0"/>
              </a:rPr>
              <a:t>traits</a:t>
            </a:r>
            <a:endParaRPr lang="en-IN" sz="3600" dirty="0">
              <a:solidFill>
                <a:schemeClr val="bg1"/>
              </a:solidFill>
              <a:latin typeface="Times New Roman" panose="02020603050405020304" pitchFamily="18" charset="0"/>
              <a:cs typeface="Times New Roman" panose="02020603050405020304" pitchFamily="18" charset="0"/>
            </a:endParaRPr>
          </a:p>
        </p:txBody>
      </p:sp>
      <p:graphicFrame>
        <p:nvGraphicFramePr>
          <p:cNvPr id="38" name="Table 37"/>
          <p:cNvGraphicFramePr>
            <a:graphicFrameLocks noGrp="1"/>
          </p:cNvGraphicFramePr>
          <p:nvPr>
            <p:extLst>
              <p:ext uri="{D42A27DB-BD31-4B8C-83A1-F6EECF244321}">
                <p14:modId xmlns:p14="http://schemas.microsoft.com/office/powerpoint/2010/main" val="1150497879"/>
              </p:ext>
            </p:extLst>
          </p:nvPr>
        </p:nvGraphicFramePr>
        <p:xfrm>
          <a:off x="13767244" y="7429050"/>
          <a:ext cx="15935049" cy="4594342"/>
        </p:xfrm>
        <a:graphic>
          <a:graphicData uri="http://schemas.openxmlformats.org/drawingml/2006/table">
            <a:tbl>
              <a:tblPr>
                <a:tableStyleId>{E8B1032C-EA38-4F05-BA0D-38AFFFC7BED3}</a:tableStyleId>
              </a:tblPr>
              <a:tblGrid>
                <a:gridCol w="2655406">
                  <a:extLst>
                    <a:ext uri="{9D8B030D-6E8A-4147-A177-3AD203B41FA5}">
                      <a16:colId xmlns:a16="http://schemas.microsoft.com/office/drawing/2014/main" val="20000"/>
                    </a:ext>
                  </a:extLst>
                </a:gridCol>
                <a:gridCol w="2655406">
                  <a:extLst>
                    <a:ext uri="{9D8B030D-6E8A-4147-A177-3AD203B41FA5}">
                      <a16:colId xmlns:a16="http://schemas.microsoft.com/office/drawing/2014/main" val="20001"/>
                    </a:ext>
                  </a:extLst>
                </a:gridCol>
                <a:gridCol w="2658018">
                  <a:extLst>
                    <a:ext uri="{9D8B030D-6E8A-4147-A177-3AD203B41FA5}">
                      <a16:colId xmlns:a16="http://schemas.microsoft.com/office/drawing/2014/main" val="20002"/>
                    </a:ext>
                  </a:extLst>
                </a:gridCol>
                <a:gridCol w="2655406">
                  <a:extLst>
                    <a:ext uri="{9D8B030D-6E8A-4147-A177-3AD203B41FA5}">
                      <a16:colId xmlns:a16="http://schemas.microsoft.com/office/drawing/2014/main" val="20003"/>
                    </a:ext>
                  </a:extLst>
                </a:gridCol>
                <a:gridCol w="2468535">
                  <a:extLst>
                    <a:ext uri="{9D8B030D-6E8A-4147-A177-3AD203B41FA5}">
                      <a16:colId xmlns:a16="http://schemas.microsoft.com/office/drawing/2014/main" val="20004"/>
                    </a:ext>
                  </a:extLst>
                </a:gridCol>
                <a:gridCol w="2842278">
                  <a:extLst>
                    <a:ext uri="{9D8B030D-6E8A-4147-A177-3AD203B41FA5}">
                      <a16:colId xmlns:a16="http://schemas.microsoft.com/office/drawing/2014/main" val="20005"/>
                    </a:ext>
                  </a:extLst>
                </a:gridCol>
              </a:tblGrid>
              <a:tr h="772364">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1</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2</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3</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4</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5</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0"/>
                  </a:ext>
                </a:extLst>
              </a:tr>
              <a:tr h="732522">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1</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7.995</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6.722</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6.329</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9.354</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7.041</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1"/>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2</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3.693</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2.209</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7.014</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3.282</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2"/>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3</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 </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3.732</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6.325</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3.579</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3"/>
                  </a:ext>
                </a:extLst>
              </a:tr>
              <a:tr h="772364">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Cluster 4</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a:effectLst/>
                          <a:latin typeface="Times New Roman" panose="02020603050405020304" pitchFamily="18" charset="0"/>
                          <a:cs typeface="Times New Roman" panose="02020603050405020304" pitchFamily="18" charset="0"/>
                        </a:rPr>
                        <a:t> </a:t>
                      </a:r>
                      <a:endParaRPr lang="en-US" sz="36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4.652</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7.216</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4"/>
                  </a:ext>
                </a:extLst>
              </a:tr>
              <a:tr h="772364">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Cluster 5</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dirty="0">
                          <a:effectLst/>
                          <a:latin typeface="Times New Roman" panose="02020603050405020304" pitchFamily="18" charset="0"/>
                          <a:cs typeface="Times New Roman" panose="02020603050405020304" pitchFamily="18" charset="0"/>
                        </a:rPr>
                        <a:t> </a:t>
                      </a:r>
                      <a:endParaRPr lang="en-US" sz="36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tc>
                  <a:txBody>
                    <a:bodyPr/>
                    <a:lstStyle/>
                    <a:p>
                      <a:pPr marL="0" marR="0" algn="ctr">
                        <a:lnSpc>
                          <a:spcPct val="115000"/>
                        </a:lnSpc>
                        <a:spcBef>
                          <a:spcPts val="0"/>
                        </a:spcBef>
                        <a:spcAft>
                          <a:spcPts val="0"/>
                        </a:spcAft>
                      </a:pPr>
                      <a:r>
                        <a:rPr lang="en-US" sz="3600" b="1" dirty="0">
                          <a:effectLst/>
                          <a:latin typeface="Times New Roman" panose="02020603050405020304" pitchFamily="18" charset="0"/>
                          <a:cs typeface="Times New Roman" panose="02020603050405020304" pitchFamily="18" charset="0"/>
                        </a:rPr>
                        <a:t>0.00</a:t>
                      </a:r>
                      <a:endParaRPr lang="en-US" sz="36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solidFill>
                      <a:srgbClr val="E0F2F1"/>
                    </a:solidFill>
                  </a:tcPr>
                </a:tc>
                <a:extLst>
                  <a:ext uri="{0D108BD9-81ED-4DB2-BD59-A6C34878D82A}">
                    <a16:rowId xmlns:a16="http://schemas.microsoft.com/office/drawing/2014/main" val="10005"/>
                  </a:ext>
                </a:extLst>
              </a:tr>
            </a:tbl>
          </a:graphicData>
        </a:graphic>
      </p:graphicFrame>
      <p:pic>
        <p:nvPicPr>
          <p:cNvPr id="40" name="Picture 39"/>
          <p:cNvPicPr>
            <a:picLocks noChangeAspect="1"/>
          </p:cNvPicPr>
          <p:nvPr/>
        </p:nvPicPr>
        <p:blipFill rotWithShape="1">
          <a:blip r:embed="rId5">
            <a:extLst>
              <a:ext uri="{28A0092B-C50C-407E-A947-70E740481C1C}">
                <a14:useLocalDpi xmlns:a14="http://schemas.microsoft.com/office/drawing/2010/main" val="0"/>
              </a:ext>
            </a:extLst>
          </a:blip>
          <a:srcRect b="8865"/>
          <a:stretch/>
        </p:blipFill>
        <p:spPr>
          <a:xfrm>
            <a:off x="13812066" y="12465262"/>
            <a:ext cx="15861660" cy="8105373"/>
          </a:xfrm>
          <a:prstGeom prst="rect">
            <a:avLst/>
          </a:prstGeom>
          <a:ln>
            <a:solidFill>
              <a:schemeClr val="tx1"/>
            </a:solidFill>
          </a:ln>
        </p:spPr>
      </p:pic>
      <p:sp>
        <p:nvSpPr>
          <p:cNvPr id="44" name="TextBox 43">
            <a:extLst>
              <a:ext uri="{FF2B5EF4-FFF2-40B4-BE49-F238E27FC236}">
                <a16:creationId xmlns:a16="http://schemas.microsoft.com/office/drawing/2014/main" id="{37A76C6D-F414-8362-2C71-98574E5DE41F}"/>
              </a:ext>
            </a:extLst>
          </p:cNvPr>
          <p:cNvSpPr txBox="1"/>
          <p:nvPr/>
        </p:nvSpPr>
        <p:spPr>
          <a:xfrm>
            <a:off x="13784036" y="20466297"/>
            <a:ext cx="15918257" cy="1754326"/>
          </a:xfrm>
          <a:prstGeom prst="rect">
            <a:avLst/>
          </a:prstGeom>
          <a:solidFill>
            <a:srgbClr val="1B4332"/>
          </a:solidFill>
          <a:ln>
            <a:noFill/>
          </a:ln>
        </p:spPr>
        <p:txBody>
          <a:bodyPr wrap="square" rtlCol="0">
            <a:spAutoFit/>
          </a:bodyPr>
          <a:lstStyle/>
          <a:p>
            <a:pPr algn="ctr"/>
            <a:r>
              <a:rPr lang="en-US" sz="3600" b="1" dirty="0" smtClean="0">
                <a:solidFill>
                  <a:schemeClr val="bg1"/>
                </a:solidFill>
                <a:latin typeface="Times New Roman" panose="02020603050405020304" pitchFamily="18" charset="0"/>
                <a:cs typeface="Times New Roman" panose="02020603050405020304" pitchFamily="18" charset="0"/>
              </a:rPr>
              <a:t>Fig.2 Scree </a:t>
            </a:r>
            <a:r>
              <a:rPr lang="en-US" sz="3600" b="1" dirty="0">
                <a:solidFill>
                  <a:schemeClr val="bg1"/>
                </a:solidFill>
                <a:latin typeface="Times New Roman" panose="02020603050405020304" pitchFamily="18" charset="0"/>
                <a:cs typeface="Times New Roman" panose="02020603050405020304" pitchFamily="18" charset="0"/>
              </a:rPr>
              <a:t>Plot Showing Percentage Variation Explained by Principal Components and PCA </a:t>
            </a:r>
            <a:r>
              <a:rPr lang="en-US" sz="3600" b="1" dirty="0" err="1">
                <a:solidFill>
                  <a:schemeClr val="bg1"/>
                </a:solidFill>
                <a:latin typeface="Times New Roman" panose="02020603050405020304" pitchFamily="18" charset="0"/>
                <a:cs typeface="Times New Roman" panose="02020603050405020304" pitchFamily="18" charset="0"/>
              </a:rPr>
              <a:t>Biplot</a:t>
            </a:r>
            <a:r>
              <a:rPr lang="en-US" sz="3600" b="1" dirty="0">
                <a:solidFill>
                  <a:schemeClr val="bg1"/>
                </a:solidFill>
                <a:latin typeface="Times New Roman" panose="02020603050405020304" pitchFamily="18" charset="0"/>
                <a:cs typeface="Times New Roman" panose="02020603050405020304" pitchFamily="18" charset="0"/>
              </a:rPr>
              <a:t> of Quantitative Traits</a:t>
            </a:r>
            <a:endParaRPr lang="en-IN" sz="3600" b="1" dirty="0">
              <a:solidFill>
                <a:schemeClr val="bg1"/>
              </a:solidFill>
              <a:latin typeface="Times New Roman" panose="02020603050405020304" pitchFamily="18" charset="0"/>
              <a:cs typeface="Times New Roman" panose="02020603050405020304" pitchFamily="18" charset="0"/>
            </a:endParaRPr>
          </a:p>
          <a:p>
            <a:pPr algn="ctr"/>
            <a:endParaRPr lang="en-IN" sz="3600" b="1" dirty="0">
              <a:solidFill>
                <a:schemeClr val="bg1"/>
              </a:solidFill>
              <a:latin typeface="Times New Roman" panose="02020603050405020304" pitchFamily="18" charset="0"/>
              <a:cs typeface="Times New Roman" panose="02020603050405020304" pitchFamily="18" charset="0"/>
            </a:endParaRPr>
          </a:p>
        </p:txBody>
      </p:sp>
      <p:pic>
        <p:nvPicPr>
          <p:cNvPr id="41" name="Picture 40" descr="C:\Users\INTEL-OMS\AppData\Local\Temp\5a28079c-3925-43cc-b455-390455f43e59_ilovepdf_pages-to-jpg.zip.e59\PCA_HCPC_Results_page-0001.jpg"/>
          <p:cNvPicPr/>
          <p:nvPr/>
        </p:nvPicPr>
        <p:blipFill>
          <a:blip r:embed="rId6">
            <a:extLst>
              <a:ext uri="{28A0092B-C50C-407E-A947-70E740481C1C}">
                <a14:useLocalDpi xmlns:a14="http://schemas.microsoft.com/office/drawing/2010/main" val="0"/>
              </a:ext>
            </a:extLst>
          </a:blip>
          <a:srcRect/>
          <a:stretch>
            <a:fillRect/>
          </a:stretch>
        </p:blipFill>
        <p:spPr bwMode="auto">
          <a:xfrm>
            <a:off x="13821101" y="21707858"/>
            <a:ext cx="8153790" cy="5690562"/>
          </a:xfrm>
          <a:prstGeom prst="rect">
            <a:avLst/>
          </a:prstGeom>
          <a:noFill/>
          <a:ln>
            <a:solidFill>
              <a:schemeClr val="tx1"/>
            </a:solidFill>
          </a:ln>
        </p:spPr>
      </p:pic>
      <p:pic>
        <p:nvPicPr>
          <p:cNvPr id="42" name="Picture 41" descr="C:\Users\INTEL-OMS\AppData\Local\Temp\a157b415-fb13-47b9-af52-4cd8411104ec_ilovepdf_pages-to-jpg.zip.4ec\PCA_HCPC_Results_page-0003.jpg"/>
          <p:cNvPicPr/>
          <p:nvPr/>
        </p:nvPicPr>
        <p:blipFill rotWithShape="1">
          <a:blip r:embed="rId7">
            <a:extLst>
              <a:ext uri="{28A0092B-C50C-407E-A947-70E740481C1C}">
                <a14:useLocalDpi xmlns:a14="http://schemas.microsoft.com/office/drawing/2010/main" val="0"/>
              </a:ext>
            </a:extLst>
          </a:blip>
          <a:srcRect t="3711" r="1666" b="3421"/>
          <a:stretch/>
        </p:blipFill>
        <p:spPr bwMode="auto">
          <a:xfrm>
            <a:off x="21882470" y="21695746"/>
            <a:ext cx="7819823" cy="5690562"/>
          </a:xfrm>
          <a:prstGeom prst="rect">
            <a:avLst/>
          </a:prstGeom>
          <a:noFill/>
          <a:ln>
            <a:solidFill>
              <a:schemeClr val="tx1"/>
            </a:solidFill>
          </a:ln>
        </p:spPr>
      </p:pic>
      <p:pic>
        <p:nvPicPr>
          <p:cNvPr id="45" name="Picture 4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790242" y="28106576"/>
            <a:ext cx="15935048" cy="6204027"/>
          </a:xfrm>
          <a:prstGeom prst="rect">
            <a:avLst/>
          </a:prstGeom>
          <a:ln>
            <a:solidFill>
              <a:schemeClr val="tx1"/>
            </a:solidFill>
          </a:ln>
        </p:spPr>
      </p:pic>
      <p:pic>
        <p:nvPicPr>
          <p:cNvPr id="49" name="Picture 48"/>
          <p:cNvPicPr>
            <a:picLocks noChangeAspect="1"/>
          </p:cNvPicPr>
          <p:nvPr/>
        </p:nvPicPr>
        <p:blipFill rotWithShape="1">
          <a:blip r:embed="rId9">
            <a:extLst>
              <a:ext uri="{28A0092B-C50C-407E-A947-70E740481C1C}">
                <a14:useLocalDpi xmlns:a14="http://schemas.microsoft.com/office/drawing/2010/main" val="0"/>
              </a:ext>
            </a:extLst>
          </a:blip>
          <a:srcRect l="3760" t="82028" r="9952" b="2179"/>
          <a:stretch/>
        </p:blipFill>
        <p:spPr>
          <a:xfrm>
            <a:off x="14110534" y="32648558"/>
            <a:ext cx="13011150" cy="1502482"/>
          </a:xfrm>
          <a:prstGeom prst="rect">
            <a:avLst/>
          </a:prstGeom>
        </p:spPr>
      </p:pic>
      <p:sp>
        <p:nvSpPr>
          <p:cNvPr id="9" name="Rectangle 8"/>
          <p:cNvSpPr/>
          <p:nvPr/>
        </p:nvSpPr>
        <p:spPr>
          <a:xfrm>
            <a:off x="13795812" y="38985448"/>
            <a:ext cx="15998387" cy="3970318"/>
          </a:xfrm>
          <a:prstGeom prst="rect">
            <a:avLst/>
          </a:prstGeom>
          <a:gradFill flip="none" rotWithShape="1">
            <a:gsLst>
              <a:gs pos="0">
                <a:srgbClr val="F1F7EA"/>
              </a:gs>
              <a:gs pos="100000">
                <a:srgbClr val="C8DDB2"/>
              </a:gs>
            </a:gsLst>
            <a:lin ang="5400000" scaled="1"/>
            <a:tileRect/>
          </a:gradFill>
          <a:ln>
            <a:solidFill>
              <a:schemeClr val="tx1"/>
            </a:solidFill>
          </a:ln>
        </p:spPr>
        <p:txBody>
          <a:bodyPr wrap="square">
            <a:spAutoFit/>
          </a:bodyPr>
          <a:lstStyle/>
          <a:p>
            <a:pPr marL="1498600" indent="-1498600" algn="just"/>
            <a:r>
              <a:rPr lang="en-US" sz="3600" dirty="0" err="1">
                <a:latin typeface="Times New Roman" panose="02020603050405020304" pitchFamily="18" charset="0"/>
                <a:cs typeface="Times New Roman" panose="02020603050405020304" pitchFamily="18" charset="0"/>
              </a:rPr>
              <a:t>Mahalanobis</a:t>
            </a:r>
            <a:r>
              <a:rPr lang="en-US" sz="3600" dirty="0">
                <a:latin typeface="Times New Roman" panose="02020603050405020304" pitchFamily="18" charset="0"/>
                <a:cs typeface="Times New Roman" panose="02020603050405020304" pitchFamily="18" charset="0"/>
              </a:rPr>
              <a:t>, P. C., 1936, On the </a:t>
            </a:r>
            <a:r>
              <a:rPr lang="en-US" sz="3600" dirty="0" err="1">
                <a:latin typeface="Times New Roman" panose="02020603050405020304" pitchFamily="18" charset="0"/>
                <a:cs typeface="Times New Roman" panose="02020603050405020304" pitchFamily="18" charset="0"/>
              </a:rPr>
              <a:t>generalised</a:t>
            </a:r>
            <a:r>
              <a:rPr lang="en-US" sz="3600" dirty="0">
                <a:latin typeface="Times New Roman" panose="02020603050405020304" pitchFamily="18" charset="0"/>
                <a:cs typeface="Times New Roman" panose="02020603050405020304" pitchFamily="18" charset="0"/>
              </a:rPr>
              <a:t> distance in statistics. </a:t>
            </a:r>
            <a:r>
              <a:rPr lang="en-US" sz="3600" i="1" dirty="0">
                <a:latin typeface="Times New Roman" panose="02020603050405020304" pitchFamily="18" charset="0"/>
                <a:cs typeface="Times New Roman" panose="02020603050405020304" pitchFamily="18" charset="0"/>
              </a:rPr>
              <a:t>Proc</a:t>
            </a:r>
            <a:r>
              <a:rPr lang="en-US" sz="3600" dirty="0">
                <a:latin typeface="Times New Roman" panose="02020603050405020304" pitchFamily="18" charset="0"/>
                <a:cs typeface="Times New Roman" panose="02020603050405020304" pitchFamily="18" charset="0"/>
              </a:rPr>
              <a:t>.             </a:t>
            </a:r>
            <a:r>
              <a:rPr lang="en-US" sz="3600" i="1" dirty="0">
                <a:latin typeface="Times New Roman" panose="02020603050405020304" pitchFamily="18" charset="0"/>
                <a:cs typeface="Times New Roman" panose="02020603050405020304" pitchFamily="18" charset="0"/>
              </a:rPr>
              <a:t>Indian Natl. Inst. Sci</a:t>
            </a:r>
            <a:r>
              <a:rPr lang="en-US" sz="3600" dirty="0">
                <a:latin typeface="Times New Roman" panose="02020603050405020304" pitchFamily="18" charset="0"/>
                <a:cs typeface="Times New Roman" panose="02020603050405020304" pitchFamily="18" charset="0"/>
              </a:rPr>
              <a:t>., 2: 49-55</a:t>
            </a:r>
            <a:r>
              <a:rPr lang="en-US" sz="3600" dirty="0" smtClean="0">
                <a:latin typeface="Times New Roman" panose="02020603050405020304" pitchFamily="18" charset="0"/>
                <a:cs typeface="Times New Roman" panose="02020603050405020304" pitchFamily="18" charset="0"/>
              </a:rPr>
              <a:t>.</a:t>
            </a:r>
          </a:p>
          <a:p>
            <a:pPr marL="1498600" indent="-1498600" algn="just"/>
            <a:endParaRPr lang="en-US" sz="3600" dirty="0">
              <a:latin typeface="Times New Roman" panose="02020603050405020304" pitchFamily="18" charset="0"/>
              <a:cs typeface="Times New Roman" panose="02020603050405020304" pitchFamily="18" charset="0"/>
            </a:endParaRPr>
          </a:p>
          <a:p>
            <a:pPr marL="1498600" indent="-1498600" algn="just"/>
            <a:r>
              <a:rPr lang="en-US" sz="3600" dirty="0" err="1" smtClean="0">
                <a:latin typeface="Times New Roman" panose="02020603050405020304" pitchFamily="18" charset="0"/>
                <a:cs typeface="Times New Roman" panose="02020603050405020304" pitchFamily="18" charset="0"/>
              </a:rPr>
              <a:t>Chipeta</a:t>
            </a:r>
            <a:r>
              <a:rPr lang="en-US" sz="3600" dirty="0">
                <a:latin typeface="Times New Roman" panose="02020603050405020304" pitchFamily="18" charset="0"/>
                <a:cs typeface="Times New Roman" panose="02020603050405020304" pitchFamily="18" charset="0"/>
              </a:rPr>
              <a:t>, M. M., </a:t>
            </a:r>
            <a:r>
              <a:rPr lang="en-US" sz="3600" dirty="0" err="1">
                <a:latin typeface="Times New Roman" panose="02020603050405020304" pitchFamily="18" charset="0"/>
                <a:cs typeface="Times New Roman" panose="02020603050405020304" pitchFamily="18" charset="0"/>
              </a:rPr>
              <a:t>Kafwambira</a:t>
            </a:r>
            <a:r>
              <a:rPr lang="en-US" sz="3600" dirty="0">
                <a:latin typeface="Times New Roman" panose="02020603050405020304" pitchFamily="18" charset="0"/>
                <a:cs typeface="Times New Roman" panose="02020603050405020304" pitchFamily="18" charset="0"/>
              </a:rPr>
              <a:t>, J. and </a:t>
            </a:r>
            <a:r>
              <a:rPr lang="en-US" sz="3600" dirty="0" err="1">
                <a:latin typeface="Times New Roman" panose="02020603050405020304" pitchFamily="18" charset="0"/>
                <a:cs typeface="Times New Roman" panose="02020603050405020304" pitchFamily="18" charset="0"/>
              </a:rPr>
              <a:t>Yohane</a:t>
            </a:r>
            <a:r>
              <a:rPr lang="en-US" sz="3600" dirty="0">
                <a:latin typeface="Times New Roman" panose="02020603050405020304" pitchFamily="18" charset="0"/>
                <a:cs typeface="Times New Roman" panose="02020603050405020304" pitchFamily="18" charset="0"/>
              </a:rPr>
              <a:t>, E., 2025, Cowpea genetic diversity, population structure and genome-wide association studies in Malawi: Insights for breeding programs. </a:t>
            </a:r>
            <a:r>
              <a:rPr lang="en-US" sz="3600" i="1" dirty="0">
                <a:latin typeface="Times New Roman" panose="02020603050405020304" pitchFamily="18" charset="0"/>
                <a:cs typeface="Times New Roman" panose="02020603050405020304" pitchFamily="18" charset="0"/>
              </a:rPr>
              <a:t>Front. Pl. Sci</a:t>
            </a:r>
            <a:r>
              <a:rPr lang="en-US" sz="3600" dirty="0">
                <a:latin typeface="Times New Roman" panose="02020603050405020304" pitchFamily="18" charset="0"/>
                <a:cs typeface="Times New Roman" panose="02020603050405020304" pitchFamily="18" charset="0"/>
              </a:rPr>
              <a:t>., 15: 1461631.</a:t>
            </a:r>
          </a:p>
          <a:p>
            <a:pPr marL="1498600" indent="-1498600" algn="just"/>
            <a:endParaRPr lang="en-US" sz="3600" dirty="0">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0A537A54-4D3D-0FBE-BA2E-2877A0CE545C}"/>
              </a:ext>
            </a:extLst>
          </p:cNvPr>
          <p:cNvSpPr txBox="1"/>
          <p:nvPr/>
        </p:nvSpPr>
        <p:spPr>
          <a:xfrm>
            <a:off x="13740273" y="27435225"/>
            <a:ext cx="16000585" cy="646331"/>
          </a:xfrm>
          <a:prstGeom prst="rect">
            <a:avLst/>
          </a:prstGeom>
          <a:solidFill>
            <a:srgbClr val="1B4332"/>
          </a:solidFill>
          <a:ln>
            <a:noFill/>
          </a:ln>
        </p:spPr>
        <p:txBody>
          <a:bodyPr wrap="square" rtlCol="0">
            <a:spAutoFit/>
          </a:bodyPr>
          <a:lstStyle/>
          <a:p>
            <a:pPr algn="ctr"/>
            <a:r>
              <a:rPr lang="en-US" sz="3600" b="1" dirty="0" smtClean="0">
                <a:solidFill>
                  <a:schemeClr val="bg1"/>
                </a:solidFill>
                <a:latin typeface="Times New Roman" panose="02020603050405020304" pitchFamily="18" charset="0"/>
                <a:cs typeface="Times New Roman" panose="02020603050405020304" pitchFamily="18" charset="0"/>
              </a:rPr>
              <a:t>Fig. 3 General view of experimental plot</a:t>
            </a: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51" name="Rectangle 50">
            <a:extLst>
              <a:ext uri="{FF2B5EF4-FFF2-40B4-BE49-F238E27FC236}">
                <a16:creationId xmlns:a16="http://schemas.microsoft.com/office/drawing/2014/main" id="{A369E6C0-FDF7-41AE-B7B9-E66B45D08924}"/>
              </a:ext>
            </a:extLst>
          </p:cNvPr>
          <p:cNvSpPr/>
          <p:nvPr/>
        </p:nvSpPr>
        <p:spPr>
          <a:xfrm>
            <a:off x="313130" y="15353601"/>
            <a:ext cx="13391874" cy="847399"/>
          </a:xfrm>
          <a:prstGeom prst="rect">
            <a:avLst/>
          </a:prstGeom>
          <a:solidFill>
            <a:srgbClr val="1B43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smtClean="0">
                <a:solidFill>
                  <a:schemeClr val="bg1"/>
                </a:solidFill>
                <a:latin typeface="Times New Roman" panose="02020603050405020304" pitchFamily="18" charset="0"/>
                <a:cs typeface="Times New Roman" panose="02020603050405020304" pitchFamily="18" charset="0"/>
              </a:rPr>
              <a:t>OBJECTIVES</a:t>
            </a:r>
            <a:endParaRPr lang="en-IN" sz="4400" b="1" dirty="0">
              <a:solidFill>
                <a:schemeClr val="bg1"/>
              </a:solidFill>
              <a:latin typeface="Times New Roman" panose="02020603050405020304" pitchFamily="18" charset="0"/>
              <a:cs typeface="Times New Roman" panose="02020603050405020304" pitchFamily="18" charset="0"/>
            </a:endParaRPr>
          </a:p>
        </p:txBody>
      </p:sp>
      <p:sp>
        <p:nvSpPr>
          <p:cNvPr id="39" name="Rectangle 38"/>
          <p:cNvSpPr/>
          <p:nvPr/>
        </p:nvSpPr>
        <p:spPr>
          <a:xfrm>
            <a:off x="13767245" y="12049839"/>
            <a:ext cx="15953247" cy="646331"/>
          </a:xfrm>
          <a:prstGeom prst="rect">
            <a:avLst/>
          </a:prstGeom>
          <a:solidFill>
            <a:srgbClr val="1B4332"/>
          </a:solidFill>
        </p:spPr>
        <p:txBody>
          <a:bodyPr wrap="square">
            <a:spAutoFit/>
          </a:bodyPr>
          <a:lstStyle/>
          <a:p>
            <a:pPr algn="ctr"/>
            <a:r>
              <a:rPr lang="en-IN" sz="3600" b="1" dirty="0" smtClean="0">
                <a:solidFill>
                  <a:schemeClr val="bg1"/>
                </a:solidFill>
                <a:latin typeface="Times New Roman" panose="02020603050405020304" pitchFamily="18" charset="0"/>
                <a:ea typeface="Calibri" panose="020F0502020204030204" pitchFamily="34" charset="0"/>
                <a:cs typeface="Times New Roman" panose="02020603050405020304" pitchFamily="18" charset="0"/>
              </a:rPr>
              <a:t>Fig. 1 H</a:t>
            </a:r>
            <a:r>
              <a:rPr lang="en-US" sz="3600" b="1" dirty="0" err="1" smtClean="0">
                <a:solidFill>
                  <a:schemeClr val="bg1"/>
                </a:solidFill>
                <a:latin typeface="Times New Roman" panose="02020603050405020304" pitchFamily="18" charset="0"/>
                <a:cs typeface="Times New Roman" panose="02020603050405020304" pitchFamily="18" charset="0"/>
              </a:rPr>
              <a:t>ierarchical</a:t>
            </a:r>
            <a:r>
              <a:rPr lang="en-US" sz="3600" b="1" dirty="0" smtClean="0">
                <a:solidFill>
                  <a:schemeClr val="bg1"/>
                </a:solidFill>
                <a:latin typeface="Times New Roman" panose="02020603050405020304" pitchFamily="18" charset="0"/>
                <a:cs typeface="Times New Roman" panose="02020603050405020304" pitchFamily="18" charset="0"/>
              </a:rPr>
              <a:t> </a:t>
            </a:r>
            <a:r>
              <a:rPr lang="en-US" sz="3600" b="1" dirty="0">
                <a:solidFill>
                  <a:schemeClr val="bg1"/>
                </a:solidFill>
                <a:latin typeface="Times New Roman" panose="02020603050405020304" pitchFamily="18" charset="0"/>
                <a:cs typeface="Times New Roman" panose="02020603050405020304" pitchFamily="18" charset="0"/>
              </a:rPr>
              <a:t>Clustering of Cowpea Genotypes</a:t>
            </a:r>
            <a:endParaRPr lang="en-IN" sz="3600" b="1" dirty="0">
              <a:solidFill>
                <a:schemeClr val="bg1"/>
              </a:solidFill>
              <a:latin typeface="Times New Roman" panose="02020603050405020304" pitchFamily="18" charset="0"/>
              <a:cs typeface="Times New Roman" panose="02020603050405020304" pitchFamily="18" charset="0"/>
            </a:endParaRPr>
          </a:p>
        </p:txBody>
      </p:sp>
      <p:sp>
        <p:nvSpPr>
          <p:cNvPr id="47" name="Rectangle 46">
            <a:extLst>
              <a:ext uri="{FF2B5EF4-FFF2-40B4-BE49-F238E27FC236}">
                <a16:creationId xmlns:a16="http://schemas.microsoft.com/office/drawing/2014/main" id="{2D9FBFE8-E4AD-4E6C-AE09-4904C572EE0F}"/>
              </a:ext>
            </a:extLst>
          </p:cNvPr>
          <p:cNvSpPr/>
          <p:nvPr/>
        </p:nvSpPr>
        <p:spPr>
          <a:xfrm>
            <a:off x="308591" y="18167262"/>
            <a:ext cx="13481651" cy="751093"/>
          </a:xfrm>
          <a:prstGeom prst="rect">
            <a:avLst/>
          </a:prstGeom>
          <a:solidFill>
            <a:srgbClr val="1B433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4400" b="1" dirty="0">
                <a:solidFill>
                  <a:schemeClr val="bg1"/>
                </a:solidFill>
                <a:latin typeface="Times New Roman" pitchFamily="18" charset="0"/>
                <a:cs typeface="Times New Roman" pitchFamily="18" charset="0"/>
              </a:rPr>
              <a:t>MATERIAL </a:t>
            </a:r>
            <a:r>
              <a:rPr lang="en-IN" sz="4400" b="1" dirty="0" smtClean="0">
                <a:solidFill>
                  <a:schemeClr val="bg1"/>
                </a:solidFill>
                <a:latin typeface="Times New Roman" pitchFamily="18" charset="0"/>
                <a:cs typeface="Times New Roman" pitchFamily="18" charset="0"/>
              </a:rPr>
              <a:t> AND METHODS</a:t>
            </a:r>
            <a:endParaRPr lang="en-IN" sz="4400" b="1" dirty="0">
              <a:solidFill>
                <a:schemeClr val="bg1"/>
              </a:solidFill>
              <a:latin typeface="Times New Roman" pitchFamily="18" charset="0"/>
              <a:cs typeface="Times New Roman" pitchFamily="18" charset="0"/>
            </a:endParaRPr>
          </a:p>
        </p:txBody>
      </p:sp>
    </p:spTree>
    <p:extLst>
      <p:ext uri="{BB962C8B-B14F-4D97-AF65-F5344CB8AC3E}">
        <p14:creationId xmlns:p14="http://schemas.microsoft.com/office/powerpoint/2010/main" val="3232006061"/>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9156</TotalTime>
  <Words>635</Words>
  <Application>Microsoft Office PowerPoint</Application>
  <PresentationFormat>Custom</PresentationFormat>
  <Paragraphs>79</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Arial</vt:lpstr>
      <vt:lpstr>Calibri</vt:lpstr>
      <vt:lpstr>Calibri Light</vt:lpstr>
      <vt:lpstr>Times New Roman</vt:lpstr>
      <vt:lpstr>Wingdings</vt:lpstr>
      <vt:lpstr>1_Office Theme</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Vaibhav Patil</cp:lastModifiedBy>
  <cp:revision>763</cp:revision>
  <dcterms:created xsi:type="dcterms:W3CDTF">2017-11-27T09:22:44Z</dcterms:created>
  <dcterms:modified xsi:type="dcterms:W3CDTF">2026-08-16T11:35:27Z</dcterms:modified>
</cp:coreProperties>
</file>